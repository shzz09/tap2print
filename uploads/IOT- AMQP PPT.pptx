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64" r:id="rId3"/>
    <p:sldId id="276" r:id="rId4"/>
    <p:sldId id="281" r:id="rId5"/>
    <p:sldId id="263" r:id="rId6"/>
    <p:sldId id="277" r:id="rId7"/>
    <p:sldId id="279" r:id="rId8"/>
    <p:sldId id="280" r:id="rId9"/>
    <p:sldId id="284" r:id="rId10"/>
    <p:sldId id="282" r:id="rId11"/>
    <p:sldId id="266" r:id="rId12"/>
    <p:sldId id="278" r:id="rId13"/>
    <p:sldId id="283" r:id="rId14"/>
    <p:sldId id="272" r:id="rId15"/>
    <p:sldId id="269" r:id="rId16"/>
    <p:sldId id="270" r:id="rId17"/>
    <p:sldId id="2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9749"/>
    <a:srgbClr val="632523"/>
    <a:srgbClr val="EEECE1"/>
    <a:srgbClr val="FAFAFA"/>
    <a:srgbClr val="FFFFCC"/>
    <a:srgbClr val="FFFFFF"/>
    <a:srgbClr val="5B1F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EB542-D87F-482D-A7FF-4601A0EF413B}"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B07B5-2230-4BA0-B62F-6320918FF3D1}" type="slidenum">
              <a:rPr lang="en-US" smtClean="0"/>
              <a:t>‹#›</a:t>
            </a:fld>
            <a:endParaRPr lang="en-US"/>
          </a:p>
        </p:txBody>
      </p:sp>
    </p:spTree>
    <p:extLst>
      <p:ext uri="{BB962C8B-B14F-4D97-AF65-F5344CB8AC3E}">
        <p14:creationId xmlns:p14="http://schemas.microsoft.com/office/powerpoint/2010/main" val="2352723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GM University </a:t>
            </a:r>
          </a:p>
        </p:txBody>
      </p:sp>
      <p:sp>
        <p:nvSpPr>
          <p:cNvPr id="4" name="Slide Number Placeholder 3"/>
          <p:cNvSpPr>
            <a:spLocks noGrp="1"/>
          </p:cNvSpPr>
          <p:nvPr>
            <p:ph type="sldNum" sz="quarter" idx="5"/>
          </p:nvPr>
        </p:nvSpPr>
        <p:spPr/>
        <p:txBody>
          <a:bodyPr/>
          <a:lstStyle/>
          <a:p>
            <a:fld id="{A62B07B5-2230-4BA0-B62F-6320918FF3D1}" type="slidenum">
              <a:rPr lang="en-US" smtClean="0"/>
              <a:t>1</a:t>
            </a:fld>
            <a:endParaRPr lang="en-US"/>
          </a:p>
        </p:txBody>
      </p:sp>
    </p:spTree>
    <p:extLst>
      <p:ext uri="{BB962C8B-B14F-4D97-AF65-F5344CB8AC3E}">
        <p14:creationId xmlns:p14="http://schemas.microsoft.com/office/powerpoint/2010/main" val="381117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B43FD-4E97-76C8-3831-02159598E2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3A617F-7BA2-27D9-962F-92C00DD0B7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FF6E0E-1900-6FAB-9727-EB92E8AABAF9}"/>
              </a:ext>
            </a:extLst>
          </p:cNvPr>
          <p:cNvSpPr>
            <a:spLocks noGrp="1"/>
          </p:cNvSpPr>
          <p:nvPr>
            <p:ph type="dt" sz="half" idx="10"/>
          </p:nvPr>
        </p:nvSpPr>
        <p:spPr/>
        <p:txBody>
          <a:bodyPr/>
          <a:lstStyle/>
          <a:p>
            <a:fld id="{4A47475E-0D6B-4D59-9E79-16A259AB8BC8}" type="datetime1">
              <a:rPr lang="en-IN" smtClean="0"/>
              <a:t>17-12-2025</a:t>
            </a:fld>
            <a:endParaRPr lang="en-US"/>
          </a:p>
        </p:txBody>
      </p:sp>
      <p:sp>
        <p:nvSpPr>
          <p:cNvPr id="5" name="Footer Placeholder 4">
            <a:extLst>
              <a:ext uri="{FF2B5EF4-FFF2-40B4-BE49-F238E27FC236}">
                <a16:creationId xmlns:a16="http://schemas.microsoft.com/office/drawing/2014/main" id="{B269AA70-EE78-0BDB-4F48-AEA09FBBA7D7}"/>
              </a:ext>
            </a:extLst>
          </p:cNvPr>
          <p:cNvSpPr>
            <a:spLocks noGrp="1"/>
          </p:cNvSpPr>
          <p:nvPr>
            <p:ph type="ftr" sz="quarter" idx="11"/>
          </p:nvPr>
        </p:nvSpPr>
        <p:spPr/>
        <p:txBody>
          <a:bodyPr/>
          <a:lstStyle/>
          <a:p>
            <a:r>
              <a:rPr lang="en-US"/>
              <a:t>Faculty of Engineering and Technology</a:t>
            </a:r>
          </a:p>
        </p:txBody>
      </p:sp>
      <p:sp>
        <p:nvSpPr>
          <p:cNvPr id="6" name="Slide Number Placeholder 5">
            <a:extLst>
              <a:ext uri="{FF2B5EF4-FFF2-40B4-BE49-F238E27FC236}">
                <a16:creationId xmlns:a16="http://schemas.microsoft.com/office/drawing/2014/main" id="{087A2D2D-AF0C-CEB6-F14F-7B05CA0435D7}"/>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1612325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B9AD7-341F-0641-E8E7-2A74DF308D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A960B4-1821-B696-FD2C-B745792BF4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547EF-28E6-1D29-CB3B-13122E3AE9CB}"/>
              </a:ext>
            </a:extLst>
          </p:cNvPr>
          <p:cNvSpPr>
            <a:spLocks noGrp="1"/>
          </p:cNvSpPr>
          <p:nvPr>
            <p:ph type="dt" sz="half" idx="10"/>
          </p:nvPr>
        </p:nvSpPr>
        <p:spPr/>
        <p:txBody>
          <a:bodyPr/>
          <a:lstStyle/>
          <a:p>
            <a:fld id="{CB3C4B40-50D9-48F5-8273-7DCE8C847A60}" type="datetime1">
              <a:rPr lang="en-IN" smtClean="0"/>
              <a:t>17-12-2025</a:t>
            </a:fld>
            <a:endParaRPr lang="en-US"/>
          </a:p>
        </p:txBody>
      </p:sp>
      <p:sp>
        <p:nvSpPr>
          <p:cNvPr id="5" name="Footer Placeholder 4">
            <a:extLst>
              <a:ext uri="{FF2B5EF4-FFF2-40B4-BE49-F238E27FC236}">
                <a16:creationId xmlns:a16="http://schemas.microsoft.com/office/drawing/2014/main" id="{8D3ACE30-3818-6CD0-CA5A-DB8CEF77FEB8}"/>
              </a:ext>
            </a:extLst>
          </p:cNvPr>
          <p:cNvSpPr>
            <a:spLocks noGrp="1"/>
          </p:cNvSpPr>
          <p:nvPr>
            <p:ph type="ftr" sz="quarter" idx="11"/>
          </p:nvPr>
        </p:nvSpPr>
        <p:spPr/>
        <p:txBody>
          <a:bodyPr/>
          <a:lstStyle/>
          <a:p>
            <a:r>
              <a:rPr lang="en-US"/>
              <a:t>Faculty of Engineering and Technology</a:t>
            </a:r>
          </a:p>
        </p:txBody>
      </p:sp>
      <p:sp>
        <p:nvSpPr>
          <p:cNvPr id="6" name="Slide Number Placeholder 5">
            <a:extLst>
              <a:ext uri="{FF2B5EF4-FFF2-40B4-BE49-F238E27FC236}">
                <a16:creationId xmlns:a16="http://schemas.microsoft.com/office/drawing/2014/main" id="{F1A45FD9-C780-67F2-20D4-3E9F7F1415F1}"/>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663861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6EBF7-6593-2886-3AD4-34ECB4BA9C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A56A54-37A0-2148-60A3-0D04B0FD4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4FBD5A-0E9A-EFBC-63CB-89A862993998}"/>
              </a:ext>
            </a:extLst>
          </p:cNvPr>
          <p:cNvSpPr>
            <a:spLocks noGrp="1"/>
          </p:cNvSpPr>
          <p:nvPr>
            <p:ph type="dt" sz="half" idx="10"/>
          </p:nvPr>
        </p:nvSpPr>
        <p:spPr/>
        <p:txBody>
          <a:bodyPr/>
          <a:lstStyle/>
          <a:p>
            <a:fld id="{B0CF0C72-4E64-415F-8145-2BC7D29CCDB7}" type="datetime1">
              <a:rPr lang="en-IN" smtClean="0"/>
              <a:t>17-12-2025</a:t>
            </a:fld>
            <a:endParaRPr lang="en-US"/>
          </a:p>
        </p:txBody>
      </p:sp>
      <p:sp>
        <p:nvSpPr>
          <p:cNvPr id="5" name="Footer Placeholder 4">
            <a:extLst>
              <a:ext uri="{FF2B5EF4-FFF2-40B4-BE49-F238E27FC236}">
                <a16:creationId xmlns:a16="http://schemas.microsoft.com/office/drawing/2014/main" id="{827128DC-459A-7A4C-F765-75BAAA37602B}"/>
              </a:ext>
            </a:extLst>
          </p:cNvPr>
          <p:cNvSpPr>
            <a:spLocks noGrp="1"/>
          </p:cNvSpPr>
          <p:nvPr>
            <p:ph type="ftr" sz="quarter" idx="11"/>
          </p:nvPr>
        </p:nvSpPr>
        <p:spPr/>
        <p:txBody>
          <a:bodyPr/>
          <a:lstStyle/>
          <a:p>
            <a:r>
              <a:rPr lang="en-US"/>
              <a:t>Faculty of Engineering and Technology</a:t>
            </a:r>
          </a:p>
        </p:txBody>
      </p:sp>
      <p:sp>
        <p:nvSpPr>
          <p:cNvPr id="6" name="Slide Number Placeholder 5">
            <a:extLst>
              <a:ext uri="{FF2B5EF4-FFF2-40B4-BE49-F238E27FC236}">
                <a16:creationId xmlns:a16="http://schemas.microsoft.com/office/drawing/2014/main" id="{67335FBC-07A7-5CD0-BDC5-9E41A8939EC1}"/>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321832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C2F5-3A8E-2924-C433-3B8F9B924A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FFDD9C-BFFC-4835-CA88-C936CA8217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5B976D-BE04-D1B6-EBB0-708DE39B5F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A3A2E7-CF10-6562-CDC0-78B55ADE2C80}"/>
              </a:ext>
            </a:extLst>
          </p:cNvPr>
          <p:cNvSpPr>
            <a:spLocks noGrp="1"/>
          </p:cNvSpPr>
          <p:nvPr>
            <p:ph type="dt" sz="half" idx="10"/>
          </p:nvPr>
        </p:nvSpPr>
        <p:spPr/>
        <p:txBody>
          <a:bodyPr/>
          <a:lstStyle/>
          <a:p>
            <a:fld id="{F1F1DC7C-3C57-40BE-8A68-100355D1E9F5}" type="datetime1">
              <a:rPr lang="en-IN" smtClean="0"/>
              <a:t>17-12-2025</a:t>
            </a:fld>
            <a:endParaRPr lang="en-US"/>
          </a:p>
        </p:txBody>
      </p:sp>
      <p:sp>
        <p:nvSpPr>
          <p:cNvPr id="6" name="Footer Placeholder 5">
            <a:extLst>
              <a:ext uri="{FF2B5EF4-FFF2-40B4-BE49-F238E27FC236}">
                <a16:creationId xmlns:a16="http://schemas.microsoft.com/office/drawing/2014/main" id="{ACA5D624-A69C-C799-61A6-968520724B65}"/>
              </a:ext>
            </a:extLst>
          </p:cNvPr>
          <p:cNvSpPr>
            <a:spLocks noGrp="1"/>
          </p:cNvSpPr>
          <p:nvPr>
            <p:ph type="ftr" sz="quarter" idx="11"/>
          </p:nvPr>
        </p:nvSpPr>
        <p:spPr/>
        <p:txBody>
          <a:bodyPr/>
          <a:lstStyle/>
          <a:p>
            <a:r>
              <a:rPr lang="en-US"/>
              <a:t>Faculty of Engineering and Technology</a:t>
            </a:r>
          </a:p>
        </p:txBody>
      </p:sp>
      <p:sp>
        <p:nvSpPr>
          <p:cNvPr id="7" name="Slide Number Placeholder 6">
            <a:extLst>
              <a:ext uri="{FF2B5EF4-FFF2-40B4-BE49-F238E27FC236}">
                <a16:creationId xmlns:a16="http://schemas.microsoft.com/office/drawing/2014/main" id="{78A0DE04-A26C-AFAE-2867-320CA1951C61}"/>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3392483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46C31-76E6-7017-1AD1-79CE54DF38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00ED16-8E12-A984-B9E3-4AA630CEBC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2BD9EB-7CB9-0B9D-88D5-E22A508424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D2556B-AAF9-C19F-CFB9-1A3F36C930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2A0182-6392-85B3-C568-A713A57BC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CF76EA-2F36-70F9-32DE-9F0FD685C12E}"/>
              </a:ext>
            </a:extLst>
          </p:cNvPr>
          <p:cNvSpPr>
            <a:spLocks noGrp="1"/>
          </p:cNvSpPr>
          <p:nvPr>
            <p:ph type="dt" sz="half" idx="10"/>
          </p:nvPr>
        </p:nvSpPr>
        <p:spPr/>
        <p:txBody>
          <a:bodyPr/>
          <a:lstStyle/>
          <a:p>
            <a:fld id="{67C22BAC-7991-4AB6-A114-27D548335A4D}" type="datetime1">
              <a:rPr lang="en-IN" smtClean="0"/>
              <a:t>17-12-2025</a:t>
            </a:fld>
            <a:endParaRPr lang="en-US"/>
          </a:p>
        </p:txBody>
      </p:sp>
      <p:sp>
        <p:nvSpPr>
          <p:cNvPr id="8" name="Footer Placeholder 7">
            <a:extLst>
              <a:ext uri="{FF2B5EF4-FFF2-40B4-BE49-F238E27FC236}">
                <a16:creationId xmlns:a16="http://schemas.microsoft.com/office/drawing/2014/main" id="{9AAE3E60-C672-5B36-22E9-4AA6EEDE2329}"/>
              </a:ext>
            </a:extLst>
          </p:cNvPr>
          <p:cNvSpPr>
            <a:spLocks noGrp="1"/>
          </p:cNvSpPr>
          <p:nvPr>
            <p:ph type="ftr" sz="quarter" idx="11"/>
          </p:nvPr>
        </p:nvSpPr>
        <p:spPr/>
        <p:txBody>
          <a:bodyPr/>
          <a:lstStyle/>
          <a:p>
            <a:r>
              <a:rPr lang="en-US"/>
              <a:t>Faculty of Engineering and Technology</a:t>
            </a:r>
          </a:p>
        </p:txBody>
      </p:sp>
      <p:sp>
        <p:nvSpPr>
          <p:cNvPr id="9" name="Slide Number Placeholder 8">
            <a:extLst>
              <a:ext uri="{FF2B5EF4-FFF2-40B4-BE49-F238E27FC236}">
                <a16:creationId xmlns:a16="http://schemas.microsoft.com/office/drawing/2014/main" id="{0D095B08-1311-C783-C1AD-590F1E09A86F}"/>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901793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270C-5775-4FEA-CD14-726293073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BDBCC3-0CA2-2B89-90AC-9040CFF16DD9}"/>
              </a:ext>
            </a:extLst>
          </p:cNvPr>
          <p:cNvSpPr>
            <a:spLocks noGrp="1"/>
          </p:cNvSpPr>
          <p:nvPr>
            <p:ph type="dt" sz="half" idx="10"/>
          </p:nvPr>
        </p:nvSpPr>
        <p:spPr/>
        <p:txBody>
          <a:bodyPr/>
          <a:lstStyle/>
          <a:p>
            <a:fld id="{AE88560F-2347-4696-9063-0A0326ACA195}" type="datetime1">
              <a:rPr lang="en-IN" smtClean="0"/>
              <a:t>17-12-2025</a:t>
            </a:fld>
            <a:endParaRPr lang="en-US"/>
          </a:p>
        </p:txBody>
      </p:sp>
      <p:sp>
        <p:nvSpPr>
          <p:cNvPr id="4" name="Footer Placeholder 3">
            <a:extLst>
              <a:ext uri="{FF2B5EF4-FFF2-40B4-BE49-F238E27FC236}">
                <a16:creationId xmlns:a16="http://schemas.microsoft.com/office/drawing/2014/main" id="{3C1D3549-A6C6-D2AB-5348-D770E19F6C37}"/>
              </a:ext>
            </a:extLst>
          </p:cNvPr>
          <p:cNvSpPr>
            <a:spLocks noGrp="1"/>
          </p:cNvSpPr>
          <p:nvPr>
            <p:ph type="ftr" sz="quarter" idx="11"/>
          </p:nvPr>
        </p:nvSpPr>
        <p:spPr/>
        <p:txBody>
          <a:bodyPr/>
          <a:lstStyle/>
          <a:p>
            <a:r>
              <a:rPr lang="en-US"/>
              <a:t>Faculty of Engineering and Technology</a:t>
            </a:r>
          </a:p>
        </p:txBody>
      </p:sp>
      <p:sp>
        <p:nvSpPr>
          <p:cNvPr id="5" name="Slide Number Placeholder 4">
            <a:extLst>
              <a:ext uri="{FF2B5EF4-FFF2-40B4-BE49-F238E27FC236}">
                <a16:creationId xmlns:a16="http://schemas.microsoft.com/office/drawing/2014/main" id="{964B9B05-E049-CE56-41A4-141A58DB305B}"/>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404459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1D78A3-B927-D6E6-2990-AE5C00FFDA5C}"/>
              </a:ext>
            </a:extLst>
          </p:cNvPr>
          <p:cNvSpPr>
            <a:spLocks noGrp="1"/>
          </p:cNvSpPr>
          <p:nvPr>
            <p:ph type="dt" sz="half" idx="10"/>
          </p:nvPr>
        </p:nvSpPr>
        <p:spPr/>
        <p:txBody>
          <a:bodyPr/>
          <a:lstStyle/>
          <a:p>
            <a:fld id="{A83FA252-2112-4916-B710-71434A0F049F}" type="datetime1">
              <a:rPr lang="en-IN" smtClean="0"/>
              <a:t>17-12-2025</a:t>
            </a:fld>
            <a:endParaRPr lang="en-US"/>
          </a:p>
        </p:txBody>
      </p:sp>
      <p:sp>
        <p:nvSpPr>
          <p:cNvPr id="3" name="Footer Placeholder 2">
            <a:extLst>
              <a:ext uri="{FF2B5EF4-FFF2-40B4-BE49-F238E27FC236}">
                <a16:creationId xmlns:a16="http://schemas.microsoft.com/office/drawing/2014/main" id="{A764B09B-563F-F978-50CA-E882C7920E91}"/>
              </a:ext>
            </a:extLst>
          </p:cNvPr>
          <p:cNvSpPr>
            <a:spLocks noGrp="1"/>
          </p:cNvSpPr>
          <p:nvPr>
            <p:ph type="ftr" sz="quarter" idx="11"/>
          </p:nvPr>
        </p:nvSpPr>
        <p:spPr/>
        <p:txBody>
          <a:bodyPr/>
          <a:lstStyle/>
          <a:p>
            <a:r>
              <a:rPr lang="en-US"/>
              <a:t>Faculty of Engineering and Technology</a:t>
            </a:r>
          </a:p>
        </p:txBody>
      </p:sp>
      <p:sp>
        <p:nvSpPr>
          <p:cNvPr id="4" name="Slide Number Placeholder 3">
            <a:extLst>
              <a:ext uri="{FF2B5EF4-FFF2-40B4-BE49-F238E27FC236}">
                <a16:creationId xmlns:a16="http://schemas.microsoft.com/office/drawing/2014/main" id="{11A70B27-2736-91EF-C22B-6DE8A0D7F6AC}"/>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1156942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A3540-0035-675A-E4F5-A59F2E255F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5B5589-4842-83C4-F0B6-8CD56C9C4F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A89070-813F-1880-086B-4784150D17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653C30-705B-D243-1ED1-054EBF12F4B4}"/>
              </a:ext>
            </a:extLst>
          </p:cNvPr>
          <p:cNvSpPr>
            <a:spLocks noGrp="1"/>
          </p:cNvSpPr>
          <p:nvPr>
            <p:ph type="dt" sz="half" idx="10"/>
          </p:nvPr>
        </p:nvSpPr>
        <p:spPr/>
        <p:txBody>
          <a:bodyPr/>
          <a:lstStyle/>
          <a:p>
            <a:fld id="{30D02525-1A8B-47B4-AA70-364B143E8C56}" type="datetime1">
              <a:rPr lang="en-IN" smtClean="0"/>
              <a:t>17-12-2025</a:t>
            </a:fld>
            <a:endParaRPr lang="en-US"/>
          </a:p>
        </p:txBody>
      </p:sp>
      <p:sp>
        <p:nvSpPr>
          <p:cNvPr id="6" name="Footer Placeholder 5">
            <a:extLst>
              <a:ext uri="{FF2B5EF4-FFF2-40B4-BE49-F238E27FC236}">
                <a16:creationId xmlns:a16="http://schemas.microsoft.com/office/drawing/2014/main" id="{78EC0F13-EB7B-34AE-C8C1-407734326235}"/>
              </a:ext>
            </a:extLst>
          </p:cNvPr>
          <p:cNvSpPr>
            <a:spLocks noGrp="1"/>
          </p:cNvSpPr>
          <p:nvPr>
            <p:ph type="ftr" sz="quarter" idx="11"/>
          </p:nvPr>
        </p:nvSpPr>
        <p:spPr/>
        <p:txBody>
          <a:bodyPr/>
          <a:lstStyle/>
          <a:p>
            <a:r>
              <a:rPr lang="en-US"/>
              <a:t>Faculty of Engineering and Technology</a:t>
            </a:r>
          </a:p>
        </p:txBody>
      </p:sp>
      <p:sp>
        <p:nvSpPr>
          <p:cNvPr id="7" name="Slide Number Placeholder 6">
            <a:extLst>
              <a:ext uri="{FF2B5EF4-FFF2-40B4-BE49-F238E27FC236}">
                <a16:creationId xmlns:a16="http://schemas.microsoft.com/office/drawing/2014/main" id="{D1DC76EA-4E6D-492B-94C0-660CD0B6EA91}"/>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964924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C5B7F-2C42-9D3E-7CA1-9DA939A68D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F765CC-CA36-DA12-5311-F83455FF1F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1B3597-FBB7-55AA-E2A9-C493C75D1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010F05-6D31-0D86-A25D-FD106A84D3D9}"/>
              </a:ext>
            </a:extLst>
          </p:cNvPr>
          <p:cNvSpPr>
            <a:spLocks noGrp="1"/>
          </p:cNvSpPr>
          <p:nvPr>
            <p:ph type="dt" sz="half" idx="10"/>
          </p:nvPr>
        </p:nvSpPr>
        <p:spPr/>
        <p:txBody>
          <a:bodyPr/>
          <a:lstStyle/>
          <a:p>
            <a:fld id="{9A20EBB8-A4B7-4C2F-9BE9-0FD4279A7777}" type="datetime1">
              <a:rPr lang="en-IN" smtClean="0"/>
              <a:t>17-12-2025</a:t>
            </a:fld>
            <a:endParaRPr lang="en-US"/>
          </a:p>
        </p:txBody>
      </p:sp>
      <p:sp>
        <p:nvSpPr>
          <p:cNvPr id="6" name="Footer Placeholder 5">
            <a:extLst>
              <a:ext uri="{FF2B5EF4-FFF2-40B4-BE49-F238E27FC236}">
                <a16:creationId xmlns:a16="http://schemas.microsoft.com/office/drawing/2014/main" id="{B56C3E0C-4E4F-56C3-0BDE-8FD37EB6F469}"/>
              </a:ext>
            </a:extLst>
          </p:cNvPr>
          <p:cNvSpPr>
            <a:spLocks noGrp="1"/>
          </p:cNvSpPr>
          <p:nvPr>
            <p:ph type="ftr" sz="quarter" idx="11"/>
          </p:nvPr>
        </p:nvSpPr>
        <p:spPr/>
        <p:txBody>
          <a:bodyPr/>
          <a:lstStyle/>
          <a:p>
            <a:r>
              <a:rPr lang="en-US"/>
              <a:t>Faculty of Engineering and Technology</a:t>
            </a:r>
          </a:p>
        </p:txBody>
      </p:sp>
      <p:sp>
        <p:nvSpPr>
          <p:cNvPr id="7" name="Slide Number Placeholder 6">
            <a:extLst>
              <a:ext uri="{FF2B5EF4-FFF2-40B4-BE49-F238E27FC236}">
                <a16:creationId xmlns:a16="http://schemas.microsoft.com/office/drawing/2014/main" id="{55E3C909-6495-B727-B9DF-87B1E762D06A}"/>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2607408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D9533-EC47-CAA4-7758-BEF80D60E2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FD41F5-269C-CEDF-0488-9F7F734244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E688A5-097E-9706-F75E-45556DEF7F3F}"/>
              </a:ext>
            </a:extLst>
          </p:cNvPr>
          <p:cNvSpPr>
            <a:spLocks noGrp="1"/>
          </p:cNvSpPr>
          <p:nvPr>
            <p:ph type="dt" sz="half" idx="10"/>
          </p:nvPr>
        </p:nvSpPr>
        <p:spPr/>
        <p:txBody>
          <a:bodyPr/>
          <a:lstStyle/>
          <a:p>
            <a:fld id="{F95C154E-0253-4BC2-B678-7D7753319ABD}" type="datetime1">
              <a:rPr lang="en-IN" smtClean="0"/>
              <a:t>17-12-2025</a:t>
            </a:fld>
            <a:endParaRPr lang="en-US"/>
          </a:p>
        </p:txBody>
      </p:sp>
      <p:sp>
        <p:nvSpPr>
          <p:cNvPr id="5" name="Footer Placeholder 4">
            <a:extLst>
              <a:ext uri="{FF2B5EF4-FFF2-40B4-BE49-F238E27FC236}">
                <a16:creationId xmlns:a16="http://schemas.microsoft.com/office/drawing/2014/main" id="{B679F694-CAC0-5CA8-FE09-E6D776C7367A}"/>
              </a:ext>
            </a:extLst>
          </p:cNvPr>
          <p:cNvSpPr>
            <a:spLocks noGrp="1"/>
          </p:cNvSpPr>
          <p:nvPr>
            <p:ph type="ftr" sz="quarter" idx="11"/>
          </p:nvPr>
        </p:nvSpPr>
        <p:spPr/>
        <p:txBody>
          <a:bodyPr/>
          <a:lstStyle/>
          <a:p>
            <a:r>
              <a:rPr lang="en-US"/>
              <a:t>Faculty of Engineering and Technology</a:t>
            </a:r>
          </a:p>
        </p:txBody>
      </p:sp>
      <p:sp>
        <p:nvSpPr>
          <p:cNvPr id="6" name="Slide Number Placeholder 5">
            <a:extLst>
              <a:ext uri="{FF2B5EF4-FFF2-40B4-BE49-F238E27FC236}">
                <a16:creationId xmlns:a16="http://schemas.microsoft.com/office/drawing/2014/main" id="{65C6A04A-F23A-E408-F03E-ACF67CE70F78}"/>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3488243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E07B0-3E7F-776C-A68B-21787E3427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41D871-9B13-EC10-EFC2-7004DFFDB0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027DCC-9B80-D877-2F62-7D47842EB033}"/>
              </a:ext>
            </a:extLst>
          </p:cNvPr>
          <p:cNvSpPr>
            <a:spLocks noGrp="1"/>
          </p:cNvSpPr>
          <p:nvPr>
            <p:ph type="dt" sz="half" idx="10"/>
          </p:nvPr>
        </p:nvSpPr>
        <p:spPr/>
        <p:txBody>
          <a:bodyPr/>
          <a:lstStyle/>
          <a:p>
            <a:fld id="{91ECABD8-1275-4E44-AA81-3E419695E495}" type="datetime1">
              <a:rPr lang="en-IN" smtClean="0"/>
              <a:t>17-12-2025</a:t>
            </a:fld>
            <a:endParaRPr lang="en-US"/>
          </a:p>
        </p:txBody>
      </p:sp>
      <p:sp>
        <p:nvSpPr>
          <p:cNvPr id="5" name="Footer Placeholder 4">
            <a:extLst>
              <a:ext uri="{FF2B5EF4-FFF2-40B4-BE49-F238E27FC236}">
                <a16:creationId xmlns:a16="http://schemas.microsoft.com/office/drawing/2014/main" id="{5F7C22AA-3610-7875-7A3C-C2BBD27728EF}"/>
              </a:ext>
            </a:extLst>
          </p:cNvPr>
          <p:cNvSpPr>
            <a:spLocks noGrp="1"/>
          </p:cNvSpPr>
          <p:nvPr>
            <p:ph type="ftr" sz="quarter" idx="11"/>
          </p:nvPr>
        </p:nvSpPr>
        <p:spPr/>
        <p:txBody>
          <a:bodyPr/>
          <a:lstStyle/>
          <a:p>
            <a:r>
              <a:rPr lang="en-US"/>
              <a:t>Faculty of Engineering and Technology</a:t>
            </a:r>
          </a:p>
        </p:txBody>
      </p:sp>
      <p:sp>
        <p:nvSpPr>
          <p:cNvPr id="6" name="Slide Number Placeholder 5">
            <a:extLst>
              <a:ext uri="{FF2B5EF4-FFF2-40B4-BE49-F238E27FC236}">
                <a16:creationId xmlns:a16="http://schemas.microsoft.com/office/drawing/2014/main" id="{9C022B39-05DA-B53F-D836-31F168019963}"/>
              </a:ext>
            </a:extLst>
          </p:cNvPr>
          <p:cNvSpPr>
            <a:spLocks noGrp="1"/>
          </p:cNvSpPr>
          <p:nvPr>
            <p:ph type="sldNum" sz="quarter" idx="12"/>
          </p:nvPr>
        </p:nvSpPr>
        <p:spPr/>
        <p:txBody>
          <a:bodyPr/>
          <a:lstStyle/>
          <a:p>
            <a:fld id="{9FDC911C-A319-4FC6-9017-944A3A3C7762}" type="slidenum">
              <a:rPr lang="en-US" smtClean="0"/>
              <a:t>‹#›</a:t>
            </a:fld>
            <a:endParaRPr lang="en-US"/>
          </a:p>
        </p:txBody>
      </p:sp>
    </p:spTree>
    <p:extLst>
      <p:ext uri="{BB962C8B-B14F-4D97-AF65-F5344CB8AC3E}">
        <p14:creationId xmlns:p14="http://schemas.microsoft.com/office/powerpoint/2010/main" val="1744716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CA534A-3265-27FB-46F0-21B2EBA6A5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C9E01A-CE70-F51D-1040-8CD6B5F590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5E40A-0E0D-1559-65CF-99CBBF6BD1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098D10-2D17-4528-95CE-2B967CB2B3B1}" type="datetime1">
              <a:rPr lang="en-IN" smtClean="0"/>
              <a:t>17-12-2025</a:t>
            </a:fld>
            <a:endParaRPr lang="en-US"/>
          </a:p>
        </p:txBody>
      </p:sp>
      <p:sp>
        <p:nvSpPr>
          <p:cNvPr id="5" name="Footer Placeholder 4">
            <a:extLst>
              <a:ext uri="{FF2B5EF4-FFF2-40B4-BE49-F238E27FC236}">
                <a16:creationId xmlns:a16="http://schemas.microsoft.com/office/drawing/2014/main" id="{9B62B0D7-E00E-5444-DD59-339F75C419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of Engineering and Technology</a:t>
            </a:r>
          </a:p>
        </p:txBody>
      </p:sp>
      <p:sp>
        <p:nvSpPr>
          <p:cNvPr id="6" name="Slide Number Placeholder 5">
            <a:extLst>
              <a:ext uri="{FF2B5EF4-FFF2-40B4-BE49-F238E27FC236}">
                <a16:creationId xmlns:a16="http://schemas.microsoft.com/office/drawing/2014/main" id="{9D397A93-16F7-F6E1-17A6-E5799D6574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C911C-A319-4FC6-9017-944A3A3C7762}" type="slidenum">
              <a:rPr lang="en-US" smtClean="0"/>
              <a:t>‹#›</a:t>
            </a:fld>
            <a:endParaRPr lang="en-US"/>
          </a:p>
        </p:txBody>
      </p:sp>
    </p:spTree>
    <p:extLst>
      <p:ext uri="{BB962C8B-B14F-4D97-AF65-F5344CB8AC3E}">
        <p14:creationId xmlns:p14="http://schemas.microsoft.com/office/powerpoint/2010/main" val="1458731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09288" cy="6858000"/>
          </a:xfrm>
          <a:prstGeom prst="rect">
            <a:avLst/>
          </a:prstGeom>
        </p:spPr>
      </p:pic>
      <p:sp>
        <p:nvSpPr>
          <p:cNvPr id="2" name="Title 1">
            <a:extLst>
              <a:ext uri="{FF2B5EF4-FFF2-40B4-BE49-F238E27FC236}">
                <a16:creationId xmlns:a16="http://schemas.microsoft.com/office/drawing/2014/main" id="{FE60E10B-3B33-E9BB-F2ED-C786B2E32D92}"/>
              </a:ext>
            </a:extLst>
          </p:cNvPr>
          <p:cNvSpPr>
            <a:spLocks noGrp="1"/>
          </p:cNvSpPr>
          <p:nvPr>
            <p:ph type="ctrTitle"/>
          </p:nvPr>
        </p:nvSpPr>
        <p:spPr>
          <a:xfrm>
            <a:off x="4209288" y="1868129"/>
            <a:ext cx="7563418" cy="599768"/>
          </a:xfrm>
        </p:spPr>
        <p:txBody>
          <a:bodyPr>
            <a:normAutofit fontScale="90000"/>
          </a:bodyPr>
          <a:lstStyle/>
          <a:p>
            <a:r>
              <a:rPr lang="en-US" sz="4400" b="1" dirty="0">
                <a:solidFill>
                  <a:srgbClr val="0070C0"/>
                </a:solidFill>
                <a:latin typeface="Calibri" pitchFamily="34" charset="0"/>
                <a:ea typeface="Calibri" pitchFamily="34" charset="0"/>
                <a:cs typeface="Calibri" pitchFamily="34" charset="0"/>
              </a:rPr>
              <a:t>TOPIC : AMQP</a:t>
            </a:r>
          </a:p>
        </p:txBody>
      </p:sp>
      <p:sp>
        <p:nvSpPr>
          <p:cNvPr id="4" name="Rectangle 3">
            <a:extLst>
              <a:ext uri="{FF2B5EF4-FFF2-40B4-BE49-F238E27FC236}">
                <a16:creationId xmlns:a16="http://schemas.microsoft.com/office/drawing/2014/main" id="{90591F75-43E2-D466-B420-074C55442699}"/>
              </a:ext>
            </a:extLst>
          </p:cNvPr>
          <p:cNvSpPr/>
          <p:nvPr/>
        </p:nvSpPr>
        <p:spPr>
          <a:xfrm>
            <a:off x="0" y="4317"/>
            <a:ext cx="12192000" cy="1122364"/>
          </a:xfrm>
          <a:prstGeom prst="rect">
            <a:avLst/>
          </a:prstGeom>
          <a:solidFill>
            <a:srgbClr val="5B1F1F"/>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29CC47C3-8DE8-0AA9-4482-43A80B28F2F9}"/>
              </a:ext>
            </a:extLst>
          </p:cNvPr>
          <p:cNvSpPr>
            <a:spLocks noGrp="1"/>
          </p:cNvSpPr>
          <p:nvPr>
            <p:ph type="subTitle" idx="1"/>
          </p:nvPr>
        </p:nvSpPr>
        <p:spPr>
          <a:xfrm>
            <a:off x="4209288" y="3037490"/>
            <a:ext cx="7982712" cy="3210705"/>
          </a:xfrm>
        </p:spPr>
        <p:txBody>
          <a:bodyPr>
            <a:normAutofit/>
          </a:bodyPr>
          <a:lstStyle/>
          <a:p>
            <a:pPr algn="l"/>
            <a:r>
              <a:rPr lang="en-US" sz="3000" b="1" dirty="0">
                <a:solidFill>
                  <a:srgbClr val="FF0000"/>
                </a:solidFill>
                <a:latin typeface="Calibri" pitchFamily="34" charset="0"/>
                <a:ea typeface="Calibri" pitchFamily="34" charset="0"/>
                <a:cs typeface="Calibri" pitchFamily="34" charset="0"/>
              </a:rPr>
              <a:t>Group Number : 8</a:t>
            </a:r>
          </a:p>
          <a:p>
            <a:pPr algn="l"/>
            <a:r>
              <a:rPr lang="en-US" sz="3000" dirty="0">
                <a:solidFill>
                  <a:srgbClr val="FF0000"/>
                </a:solidFill>
                <a:latin typeface="Calibri" pitchFamily="34" charset="0"/>
                <a:ea typeface="Calibri" pitchFamily="34" charset="0"/>
                <a:cs typeface="Calibri" pitchFamily="34" charset="0"/>
              </a:rPr>
              <a:t> </a:t>
            </a:r>
            <a:r>
              <a:rPr lang="en-US" b="1" dirty="0">
                <a:latin typeface="Times New Roman" panose="02020603050405020304" pitchFamily="18" charset="0"/>
                <a:cs typeface="Times New Roman" panose="02020603050405020304" pitchFamily="18" charset="0"/>
              </a:rPr>
              <a:t>Presented By:                                             Presented to:</a:t>
            </a:r>
          </a:p>
          <a:p>
            <a:pPr algn="l"/>
            <a:r>
              <a:rPr lang="en-US" b="1" dirty="0" err="1">
                <a:latin typeface="Times New Roman" panose="02020603050405020304" pitchFamily="18" charset="0"/>
                <a:cs typeface="Times New Roman" panose="02020603050405020304" pitchFamily="18" charset="0"/>
              </a:rPr>
              <a:t>Teerthashree</a:t>
            </a:r>
            <a:r>
              <a:rPr lang="en-US" b="1" dirty="0">
                <a:latin typeface="Times New Roman" panose="02020603050405020304" pitchFamily="18" charset="0"/>
                <a:cs typeface="Times New Roman" panose="02020603050405020304" pitchFamily="18" charset="0"/>
              </a:rPr>
              <a:t> H M                                       Manoj P</a:t>
            </a:r>
          </a:p>
          <a:p>
            <a:pPr algn="l"/>
            <a:r>
              <a:rPr lang="en-US" b="1" dirty="0">
                <a:latin typeface="Times New Roman" panose="02020603050405020304" pitchFamily="18" charset="0"/>
                <a:cs typeface="Times New Roman" panose="02020603050405020304" pitchFamily="18" charset="0"/>
              </a:rPr>
              <a:t>Sowmya                                                        GM University</a:t>
            </a:r>
          </a:p>
          <a:p>
            <a:pPr algn="l"/>
            <a:r>
              <a:rPr lang="en-US" b="1" dirty="0">
                <a:latin typeface="Times New Roman" panose="02020603050405020304" pitchFamily="18" charset="0"/>
                <a:cs typeface="Times New Roman" panose="02020603050405020304" pitchFamily="18" charset="0"/>
              </a:rPr>
              <a:t>Sourav                                                          Davangere</a:t>
            </a:r>
          </a:p>
          <a:p>
            <a:pPr algn="l"/>
            <a:r>
              <a:rPr lang="en-US" b="1" dirty="0">
                <a:latin typeface="Times New Roman" panose="02020603050405020304" pitchFamily="18" charset="0"/>
                <a:cs typeface="Times New Roman" panose="02020603050405020304" pitchFamily="18" charset="0"/>
              </a:rPr>
              <a:t>Suhail </a:t>
            </a: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613B075-7B75-FE46-0A5B-03B42839400E}"/>
              </a:ext>
            </a:extLst>
          </p:cNvPr>
          <p:cNvSpPr txBox="1"/>
          <p:nvPr/>
        </p:nvSpPr>
        <p:spPr>
          <a:xfrm>
            <a:off x="3459480" y="-12779"/>
            <a:ext cx="4469130" cy="707886"/>
          </a:xfrm>
          <a:prstGeom prst="rect">
            <a:avLst/>
          </a:prstGeom>
          <a:noFill/>
        </p:spPr>
        <p:txBody>
          <a:bodyPr wrap="square">
            <a:spAutoFit/>
          </a:bodyPr>
          <a:lstStyle/>
          <a:p>
            <a:pPr algn="r"/>
            <a:r>
              <a:rPr lang="en-US" sz="4000" dirty="0">
                <a:solidFill>
                  <a:srgbClr val="CA9749"/>
                </a:solidFill>
                <a:latin typeface="Bodoni MT" panose="02070603080606020203" pitchFamily="18" charset="0"/>
                <a:cs typeface="Aldhabi" panose="020F0502020204030204" pitchFamily="2" charset="-78"/>
              </a:rPr>
              <a:t>GM University </a:t>
            </a:r>
          </a:p>
        </p:txBody>
      </p:sp>
      <p:sp>
        <p:nvSpPr>
          <p:cNvPr id="10" name="TextBox 9">
            <a:extLst>
              <a:ext uri="{FF2B5EF4-FFF2-40B4-BE49-F238E27FC236}">
                <a16:creationId xmlns:a16="http://schemas.microsoft.com/office/drawing/2014/main" id="{D0D3CC88-4313-3701-F974-93278875702D}"/>
              </a:ext>
            </a:extLst>
          </p:cNvPr>
          <p:cNvSpPr txBox="1"/>
          <p:nvPr/>
        </p:nvSpPr>
        <p:spPr>
          <a:xfrm>
            <a:off x="5407342" y="565499"/>
            <a:ext cx="2296477" cy="523220"/>
          </a:xfrm>
          <a:prstGeom prst="rect">
            <a:avLst/>
          </a:prstGeom>
          <a:noFill/>
        </p:spPr>
        <p:txBody>
          <a:bodyPr wrap="square">
            <a:spAutoFit/>
          </a:bodyPr>
          <a:lstStyle/>
          <a:p>
            <a:r>
              <a:rPr lang="en-US" sz="2800" dirty="0">
                <a:solidFill>
                  <a:srgbClr val="CA9749"/>
                </a:solidFill>
                <a:latin typeface="Bodoni MT" panose="02070603080606020203" pitchFamily="18" charset="0"/>
                <a:cs typeface="Aldhabi" panose="020F0502020204030204" pitchFamily="2" charset="-78"/>
              </a:rPr>
              <a:t>Davanagere</a:t>
            </a:r>
            <a:endParaRPr lang="en-US" sz="2800" dirty="0"/>
          </a:p>
        </p:txBody>
      </p:sp>
      <p:pic>
        <p:nvPicPr>
          <p:cNvPr id="14" name="Picture 13" descr="A logo of a tree and book&#10;&#10;Description automatically generated">
            <a:extLst>
              <a:ext uri="{FF2B5EF4-FFF2-40B4-BE49-F238E27FC236}">
                <a16:creationId xmlns:a16="http://schemas.microsoft.com/office/drawing/2014/main" id="{684CB627-A02B-FEDB-ECFA-CC577BF5F13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0980" t="14982" r="10064" b="14301"/>
          <a:stretch/>
        </p:blipFill>
        <p:spPr>
          <a:xfrm>
            <a:off x="10742428" y="-12779"/>
            <a:ext cx="1222744" cy="1095155"/>
          </a:xfrm>
          <a:prstGeom prst="rect">
            <a:avLst/>
          </a:prstGeom>
        </p:spPr>
      </p:pic>
      <p:sp>
        <p:nvSpPr>
          <p:cNvPr id="15" name="Rectangle 14">
            <a:extLst>
              <a:ext uri="{FF2B5EF4-FFF2-40B4-BE49-F238E27FC236}">
                <a16:creationId xmlns:a16="http://schemas.microsoft.com/office/drawing/2014/main" id="{C3EECF67-5EE5-BB3C-25D3-279BC3827286}"/>
              </a:ext>
            </a:extLst>
          </p:cNvPr>
          <p:cNvSpPr/>
          <p:nvPr/>
        </p:nvSpPr>
        <p:spPr>
          <a:xfrm rot="10800000">
            <a:off x="0" y="6292500"/>
            <a:ext cx="12192000" cy="59978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0" y="6409832"/>
            <a:ext cx="12192000" cy="365125"/>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2000" b="1" dirty="0">
                <a:solidFill>
                  <a:srgbClr val="C00000"/>
                </a:solidFill>
                <a:latin typeface="+mj-lt"/>
                <a:ea typeface="Calibri" pitchFamily="34" charset="0"/>
                <a:cs typeface="Calibri" pitchFamily="34" charset="0"/>
              </a:rPr>
              <a:t>Faculty of Engineering and Technology</a:t>
            </a:r>
          </a:p>
          <a:p>
            <a:endParaRPr lang="en-US" sz="2000" b="1" dirty="0">
              <a:solidFill>
                <a:srgbClr val="C00000"/>
              </a:solidFill>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2630061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a:extLst>
              <a:ext uri="{FF2B5EF4-FFF2-40B4-BE49-F238E27FC236}">
                <a16:creationId xmlns:a16="http://schemas.microsoft.com/office/drawing/2014/main" id="{B704BEB4-1760-78CF-659E-D866F1F302CA}"/>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6BF0CB14-19F8-FF47-9899-6F6A3DC0CA7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8C071211-F3DE-EDBF-BCAA-B2E68444FB2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itle 1"/>
          <p:cNvSpPr>
            <a:spLocks noGrp="1"/>
          </p:cNvSpPr>
          <p:nvPr>
            <p:ph type="title"/>
          </p:nvPr>
        </p:nvSpPr>
        <p:spPr>
          <a:xfrm>
            <a:off x="-407941" y="-3"/>
            <a:ext cx="11724163" cy="757087"/>
          </a:xfrm>
        </p:spPr>
        <p:txBody>
          <a:bodyPr/>
          <a:lstStyle/>
          <a:p>
            <a:pPr algn="ctr"/>
            <a:r>
              <a:rPr lang="en-GB" b="1" dirty="0">
                <a:solidFill>
                  <a:srgbClr val="C00000"/>
                </a:solidFill>
                <a:latin typeface="Calibri" pitchFamily="34" charset="0"/>
              </a:rPr>
              <a:t>CONTENTS</a:t>
            </a:r>
          </a:p>
        </p:txBody>
      </p:sp>
      <p:sp>
        <p:nvSpPr>
          <p:cNvPr id="3" name="Content Placeholder 2"/>
          <p:cNvSpPr>
            <a:spLocks noGrp="1"/>
          </p:cNvSpPr>
          <p:nvPr>
            <p:ph idx="1"/>
          </p:nvPr>
        </p:nvSpPr>
        <p:spPr>
          <a:xfrm>
            <a:off x="737419" y="1072578"/>
            <a:ext cx="11495912" cy="4532092"/>
          </a:xfrm>
        </p:spPr>
        <p:txBody>
          <a:bodyPr>
            <a:noAutofit/>
          </a:bodyPr>
          <a:lstStyle/>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Introduction</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Problem Statement</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Implementation</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Architecture</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Working</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Literature Survey</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Advantages and Disadvantages</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Applications</a:t>
            </a:r>
          </a:p>
          <a:p>
            <a:pPr algn="just">
              <a:lnSpc>
                <a:spcPct val="150000"/>
              </a:lnSpc>
              <a:buFont typeface="Wingdings" pitchFamily="2" charset="2"/>
              <a:buChar char="§"/>
            </a:pPr>
            <a:r>
              <a:rPr lang="en-GB" sz="2000" b="1" dirty="0">
                <a:latin typeface="Times New Roman" panose="02020603050405020304" pitchFamily="18" charset="0"/>
                <a:cs typeface="Times New Roman" panose="02020603050405020304" pitchFamily="18" charset="0"/>
              </a:rPr>
              <a:t>Conclusion</a:t>
            </a:r>
          </a:p>
          <a:p>
            <a:pPr algn="just">
              <a:lnSpc>
                <a:spcPct val="150000"/>
              </a:lnSpc>
              <a:buFont typeface="Wingdings" pitchFamily="2" charset="2"/>
              <a:buChar char="§"/>
            </a:pPr>
            <a:endParaRPr lang="en-GB" b="1" dirty="0">
              <a:latin typeface="Times New Roman" panose="02020603050405020304" pitchFamily="18" charset="0"/>
              <a:cs typeface="Times New Roman" panose="02020603050405020304" pitchFamily="18" charset="0"/>
            </a:endParaRPr>
          </a:p>
          <a:p>
            <a:pPr algn="just">
              <a:lnSpc>
                <a:spcPct val="150000"/>
              </a:lnSpc>
              <a:buFont typeface="Wingdings" pitchFamily="2" charset="2"/>
              <a:buChar char="§"/>
            </a:pPr>
            <a:endParaRPr lang="en-GB" b="1" dirty="0">
              <a:latin typeface="Times New Roman" panose="02020603050405020304" pitchFamily="18" charset="0"/>
              <a:cs typeface="Times New Roman" panose="02020603050405020304" pitchFamily="18" charset="0"/>
            </a:endParaRPr>
          </a:p>
          <a:p>
            <a:pPr algn="just">
              <a:lnSpc>
                <a:spcPct val="150000"/>
              </a:lnSpc>
              <a:buFont typeface="Wingdings" pitchFamily="2" charset="2"/>
              <a:buChar char="§"/>
            </a:pPr>
            <a:endParaRPr lang="en-GB" b="1" dirty="0">
              <a:latin typeface="Times New Roman" panose="02020603050405020304" pitchFamily="18" charset="0"/>
              <a:cs typeface="Times New Roman" panose="02020603050405020304" pitchFamily="18" charset="0"/>
            </a:endParaRPr>
          </a:p>
          <a:p>
            <a:pPr algn="just">
              <a:lnSpc>
                <a:spcPct val="150000"/>
              </a:lnSpc>
              <a:buFont typeface="Wingdings" pitchFamily="2" charset="2"/>
              <a:buChar char="§"/>
            </a:pPr>
            <a:endParaRPr lang="en-GB" b="1" dirty="0">
              <a:latin typeface="Times New Roman" panose="02020603050405020304" pitchFamily="18" charset="0"/>
              <a:cs typeface="Times New Roman" panose="02020603050405020304" pitchFamily="18" charset="0"/>
            </a:endParaRPr>
          </a:p>
          <a:p>
            <a:pPr algn="just">
              <a:lnSpc>
                <a:spcPct val="150000"/>
              </a:lnSpc>
              <a:buFont typeface="Wingdings" pitchFamily="2" charset="2"/>
              <a:buChar char="§"/>
            </a:pPr>
            <a:endParaRPr lang="en-GB" b="1" dirty="0">
              <a:latin typeface="Times New Roman" panose="02020603050405020304" pitchFamily="18" charset="0"/>
              <a:cs typeface="Times New Roman" panose="02020603050405020304" pitchFamily="18" charset="0"/>
            </a:endParaRPr>
          </a:p>
          <a:p>
            <a:pPr algn="just">
              <a:lnSpc>
                <a:spcPct val="150000"/>
              </a:lnSpc>
              <a:buFont typeface="Wingdings" pitchFamily="2" charset="2"/>
              <a:buChar char="§"/>
            </a:pPr>
            <a:r>
              <a:rPr lang="en-GB" b="1" dirty="0">
                <a:latin typeface="Times New Roman" panose="02020603050405020304" pitchFamily="18" charset="0"/>
                <a:cs typeface="Times New Roman" panose="02020603050405020304" pitchFamily="18" charset="0"/>
              </a:rPr>
              <a:t>Conclusion</a:t>
            </a:r>
          </a:p>
        </p:txBody>
      </p:sp>
      <p:sp>
        <p:nvSpPr>
          <p:cNvPr id="17"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467833" y="6356350"/>
            <a:ext cx="11724163" cy="365125"/>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2000" b="1" dirty="0">
                <a:solidFill>
                  <a:srgbClr val="C00000"/>
                </a:solidFill>
                <a:latin typeface="+mj-lt"/>
                <a:ea typeface="Calibri" pitchFamily="34" charset="0"/>
                <a:cs typeface="Calibri" pitchFamily="34" charset="0"/>
              </a:rPr>
              <a:t>Faculty of Engineering and Technology</a:t>
            </a:r>
          </a:p>
          <a:p>
            <a:endParaRPr lang="en-US" sz="2000" b="1" dirty="0">
              <a:solidFill>
                <a:srgbClr val="C00000"/>
              </a:solidFill>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2714124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20966-CA91-6AEE-CE33-03DB913A2C85}"/>
              </a:ext>
            </a:extLst>
          </p:cNvPr>
          <p:cNvSpPr>
            <a:spLocks noGrp="1"/>
          </p:cNvSpPr>
          <p:nvPr>
            <p:ph type="title"/>
          </p:nvPr>
        </p:nvSpPr>
        <p:spPr>
          <a:xfrm>
            <a:off x="4038600" y="-589935"/>
            <a:ext cx="7688825" cy="2113475"/>
          </a:xfrm>
        </p:spPr>
        <p:txBody>
          <a:bodyPr/>
          <a:lstStyle/>
          <a:p>
            <a:r>
              <a:rPr lang="en-US" b="1" u="sng" dirty="0"/>
              <a:t>INTRODUCTION</a:t>
            </a:r>
            <a:endParaRPr lang="en-IN" b="1" u="sng" dirty="0"/>
          </a:p>
        </p:txBody>
      </p:sp>
      <p:sp>
        <p:nvSpPr>
          <p:cNvPr id="3" name="Content Placeholder 2">
            <a:extLst>
              <a:ext uri="{FF2B5EF4-FFF2-40B4-BE49-F238E27FC236}">
                <a16:creationId xmlns:a16="http://schemas.microsoft.com/office/drawing/2014/main" id="{06C1F022-F432-B40A-F81D-9F5565BC35FE}"/>
              </a:ext>
            </a:extLst>
          </p:cNvPr>
          <p:cNvSpPr>
            <a:spLocks noGrp="1"/>
          </p:cNvSpPr>
          <p:nvPr>
            <p:ph idx="1"/>
          </p:nvPr>
        </p:nvSpPr>
        <p:spPr>
          <a:xfrm>
            <a:off x="766917" y="1225152"/>
            <a:ext cx="10813804" cy="4951811"/>
          </a:xfrm>
        </p:spPr>
        <p:txBody>
          <a:bodyPr>
            <a:normAutofit fontScale="25000" lnSpcReduction="20000"/>
          </a:bodyPr>
          <a:lstStyle/>
          <a:p>
            <a:pPr marL="0" indent="0">
              <a:buNone/>
            </a:pPr>
            <a:r>
              <a:rPr lang="en-US" sz="7200" b="1" dirty="0"/>
              <a:t>What is AMQP?</a:t>
            </a:r>
          </a:p>
          <a:p>
            <a:r>
              <a:rPr lang="en-US" sz="7200" dirty="0"/>
              <a:t>AMQP stands for </a:t>
            </a:r>
            <a:r>
              <a:rPr lang="en-US" sz="7200" b="1" dirty="0"/>
              <a:t>Advanced Message Queuing Protocol</a:t>
            </a:r>
            <a:endParaRPr lang="en-US" sz="7200" dirty="0"/>
          </a:p>
          <a:p>
            <a:r>
              <a:rPr lang="en-US" sz="7200" dirty="0"/>
              <a:t>It is an </a:t>
            </a:r>
            <a:r>
              <a:rPr lang="en-US" sz="7200" b="1" dirty="0"/>
              <a:t>open-standard</a:t>
            </a:r>
            <a:r>
              <a:rPr lang="en-US" sz="7200" dirty="0"/>
              <a:t>, </a:t>
            </a:r>
            <a:r>
              <a:rPr lang="en-US" sz="7200" b="1" dirty="0"/>
              <a:t>message-oriented</a:t>
            </a:r>
            <a:r>
              <a:rPr lang="en-US" sz="7200" dirty="0"/>
              <a:t>, and </a:t>
            </a:r>
            <a:r>
              <a:rPr lang="en-US" sz="7200" b="1" dirty="0"/>
              <a:t>broker-based</a:t>
            </a:r>
            <a:r>
              <a:rPr lang="en-US" sz="7200" dirty="0"/>
              <a:t> communication protocol.</a:t>
            </a:r>
          </a:p>
          <a:p>
            <a:pPr marL="0" indent="0">
              <a:buNone/>
            </a:pPr>
            <a:r>
              <a:rPr lang="en-US" sz="7200" b="1" dirty="0"/>
              <a:t>Purpose</a:t>
            </a:r>
          </a:p>
          <a:p>
            <a:r>
              <a:rPr lang="en-US" sz="7200" dirty="0"/>
              <a:t>Designed for </a:t>
            </a:r>
            <a:r>
              <a:rPr lang="en-US" sz="7200" b="1" dirty="0"/>
              <a:t>reliable</a:t>
            </a:r>
            <a:r>
              <a:rPr lang="en-US" sz="7200" dirty="0"/>
              <a:t>, </a:t>
            </a:r>
            <a:r>
              <a:rPr lang="en-US" sz="7200" b="1" dirty="0"/>
              <a:t>secure</a:t>
            </a:r>
            <a:r>
              <a:rPr lang="en-US" sz="7200" dirty="0"/>
              <a:t>, and </a:t>
            </a:r>
            <a:r>
              <a:rPr lang="en-US" sz="7200" b="1" dirty="0"/>
              <a:t>ordered</a:t>
            </a:r>
            <a:r>
              <a:rPr lang="en-US" sz="7200" dirty="0"/>
              <a:t> message delivery.</a:t>
            </a:r>
          </a:p>
          <a:p>
            <a:r>
              <a:rPr lang="en-US" sz="7200" dirty="0"/>
              <a:t>Ensures that IoT data reaches its destination </a:t>
            </a:r>
            <a:r>
              <a:rPr lang="en-US" sz="7200" b="1" dirty="0"/>
              <a:t>without loss</a:t>
            </a:r>
            <a:r>
              <a:rPr lang="en-US" sz="7200" dirty="0"/>
              <a:t>.</a:t>
            </a:r>
          </a:p>
          <a:p>
            <a:pPr marL="0" indent="0">
              <a:buNone/>
            </a:pPr>
            <a:r>
              <a:rPr lang="en-US" sz="7200" b="1" dirty="0"/>
              <a:t>Why used in IoT?</a:t>
            </a:r>
          </a:p>
          <a:p>
            <a:r>
              <a:rPr lang="en-US" sz="7200" dirty="0"/>
              <a:t>IoT systems generate continuous sensor data.</a:t>
            </a:r>
          </a:p>
          <a:p>
            <a:r>
              <a:rPr lang="en-US" sz="7200" dirty="0"/>
              <a:t>Needs </a:t>
            </a:r>
            <a:r>
              <a:rPr lang="en-US" sz="7200" b="1" dirty="0"/>
              <a:t>guaranteed delivery</a:t>
            </a:r>
            <a:r>
              <a:rPr lang="en-US" sz="7200" dirty="0"/>
              <a:t>, </a:t>
            </a:r>
            <a:r>
              <a:rPr lang="en-US" sz="7200" b="1" dirty="0"/>
              <a:t>message routing</a:t>
            </a:r>
            <a:r>
              <a:rPr lang="en-US" sz="7200" dirty="0"/>
              <a:t>, and </a:t>
            </a:r>
            <a:r>
              <a:rPr lang="en-US" sz="7200" b="1" dirty="0"/>
              <a:t>acknowledgements</a:t>
            </a:r>
            <a:r>
              <a:rPr lang="en-US" sz="7200" dirty="0"/>
              <a:t>.</a:t>
            </a:r>
          </a:p>
          <a:p>
            <a:r>
              <a:rPr lang="en-US" sz="7200" dirty="0"/>
              <a:t>Perfect for </a:t>
            </a:r>
            <a:r>
              <a:rPr lang="en-US" sz="7200" b="1" dirty="0"/>
              <a:t>large-scale</a:t>
            </a:r>
            <a:r>
              <a:rPr lang="en-US" sz="7200" dirty="0"/>
              <a:t>, </a:t>
            </a:r>
            <a:r>
              <a:rPr lang="en-US" sz="7200" b="1" dirty="0"/>
              <a:t>industrial</a:t>
            </a:r>
            <a:r>
              <a:rPr lang="en-US" sz="7200" dirty="0"/>
              <a:t>, and </a:t>
            </a:r>
            <a:r>
              <a:rPr lang="en-US" sz="7200" b="1" dirty="0"/>
              <a:t>cloud-connected IoT</a:t>
            </a:r>
            <a:r>
              <a:rPr lang="en-US" sz="7200" dirty="0"/>
              <a:t> systems.</a:t>
            </a:r>
          </a:p>
          <a:p>
            <a:pPr marL="0" indent="0">
              <a:buNone/>
            </a:pPr>
            <a:r>
              <a:rPr lang="en-US" sz="7200" b="1" dirty="0"/>
              <a:t>Key Features</a:t>
            </a:r>
          </a:p>
          <a:p>
            <a:r>
              <a:rPr lang="en-US" sz="7200" dirty="0"/>
              <a:t>Supports </a:t>
            </a:r>
            <a:r>
              <a:rPr lang="en-US" sz="7200" b="1" dirty="0"/>
              <a:t>message queuing</a:t>
            </a:r>
            <a:r>
              <a:rPr lang="en-US" sz="7200" dirty="0"/>
              <a:t>, </a:t>
            </a:r>
            <a:r>
              <a:rPr lang="en-US" sz="7200" b="1" dirty="0"/>
              <a:t>routing</a:t>
            </a:r>
            <a:r>
              <a:rPr lang="en-US" sz="7200" dirty="0"/>
              <a:t>, </a:t>
            </a:r>
            <a:r>
              <a:rPr lang="en-US" sz="7200" b="1" dirty="0"/>
              <a:t>publish–subscribe</a:t>
            </a:r>
            <a:r>
              <a:rPr lang="en-US" sz="7200" dirty="0"/>
              <a:t>, and </a:t>
            </a:r>
            <a:r>
              <a:rPr lang="en-US" sz="7200" b="1" dirty="0"/>
              <a:t>acknowledgments</a:t>
            </a:r>
            <a:endParaRPr lang="en-US" sz="7200" dirty="0"/>
          </a:p>
          <a:p>
            <a:r>
              <a:rPr lang="en-US" sz="7200" dirty="0"/>
              <a:t>Works </a:t>
            </a:r>
            <a:r>
              <a:rPr lang="en-US" sz="7200" b="1" dirty="0"/>
              <a:t>asynchronously</a:t>
            </a:r>
            <a:r>
              <a:rPr lang="en-US" sz="7200" dirty="0"/>
              <a:t>, suitable for high message traffic</a:t>
            </a:r>
          </a:p>
          <a:p>
            <a:r>
              <a:rPr lang="en-US" sz="7200" dirty="0"/>
              <a:t>Ensures </a:t>
            </a:r>
            <a:r>
              <a:rPr lang="en-US" sz="7200" b="1" dirty="0"/>
              <a:t>interoperability</a:t>
            </a:r>
            <a:r>
              <a:rPr lang="en-US" sz="7200" dirty="0"/>
              <a:t> across different devices and platforms</a:t>
            </a:r>
          </a:p>
          <a:p>
            <a:pPr marL="0" indent="0">
              <a:buNone/>
            </a:pPr>
            <a:r>
              <a:rPr lang="en-US" sz="7200" b="1" dirty="0"/>
              <a:t>Where Used</a:t>
            </a:r>
          </a:p>
          <a:p>
            <a:r>
              <a:rPr lang="en-US" sz="7200" dirty="0"/>
              <a:t>Widely used in </a:t>
            </a:r>
            <a:r>
              <a:rPr lang="en-US" sz="7200" b="1" dirty="0"/>
              <a:t>industrial IoT</a:t>
            </a:r>
            <a:r>
              <a:rPr lang="en-US" sz="7200" dirty="0"/>
              <a:t>, </a:t>
            </a:r>
            <a:r>
              <a:rPr lang="en-US" sz="7200" b="1" dirty="0"/>
              <a:t>smart city systems</a:t>
            </a:r>
            <a:r>
              <a:rPr lang="en-US" sz="7200" dirty="0"/>
              <a:t>, </a:t>
            </a:r>
            <a:r>
              <a:rPr lang="en-US" sz="7200" b="1" dirty="0"/>
              <a:t>cloud platforms</a:t>
            </a:r>
            <a:r>
              <a:rPr lang="en-US" sz="7200" dirty="0"/>
              <a:t>, and </a:t>
            </a:r>
            <a:r>
              <a:rPr lang="en-US" sz="7200" b="1" dirty="0"/>
              <a:t>enterprise IoT communication</a:t>
            </a:r>
            <a:r>
              <a:rPr lang="en-US" sz="7200" dirty="0"/>
              <a:t>.</a:t>
            </a:r>
          </a:p>
          <a:p>
            <a:endParaRPr lang="en-IN" dirty="0"/>
          </a:p>
        </p:txBody>
      </p:sp>
      <p:sp>
        <p:nvSpPr>
          <p:cNvPr id="5" name="Footer Placeholder 4">
            <a:extLst>
              <a:ext uri="{FF2B5EF4-FFF2-40B4-BE49-F238E27FC236}">
                <a16:creationId xmlns:a16="http://schemas.microsoft.com/office/drawing/2014/main" id="{F45A3D26-818E-7A30-8E96-ED1926ED94DD}"/>
              </a:ext>
            </a:extLst>
          </p:cNvPr>
          <p:cNvSpPr>
            <a:spLocks noGrp="1"/>
          </p:cNvSpPr>
          <p:nvPr>
            <p:ph type="ftr" sz="quarter" idx="11"/>
          </p:nvPr>
        </p:nvSpPr>
        <p:spPr/>
        <p:txBody>
          <a:bodyPr/>
          <a:lstStyle/>
          <a:p>
            <a:r>
              <a:rPr lang="en-US" dirty="0">
                <a:solidFill>
                  <a:srgbClr val="FF0000"/>
                </a:solidFill>
              </a:rPr>
              <a:t>Faculty of Engineering and Technology</a:t>
            </a:r>
          </a:p>
        </p:txBody>
      </p:sp>
      <p:pic>
        <p:nvPicPr>
          <p:cNvPr id="7" name="Picture 6" descr="A logo of a tree and book&#10;&#10;Description automatically generated">
            <a:extLst>
              <a:ext uri="{FF2B5EF4-FFF2-40B4-BE49-F238E27FC236}">
                <a16:creationId xmlns:a16="http://schemas.microsoft.com/office/drawing/2014/main" id="{E4F7DC54-70A1-D4F4-EE9A-B93A22DFA88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8" name="Rectangle 7">
            <a:extLst>
              <a:ext uri="{FF2B5EF4-FFF2-40B4-BE49-F238E27FC236}">
                <a16:creationId xmlns:a16="http://schemas.microsoft.com/office/drawing/2014/main" id="{9734D6C0-E753-4382-E8A8-3D8855EF955D}"/>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3461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3A9CC-9AB8-A848-568F-CB302E3B0532}"/>
              </a:ext>
            </a:extLst>
          </p:cNvPr>
          <p:cNvSpPr>
            <a:spLocks noGrp="1"/>
          </p:cNvSpPr>
          <p:nvPr>
            <p:ph type="title"/>
          </p:nvPr>
        </p:nvSpPr>
        <p:spPr>
          <a:xfrm>
            <a:off x="1170038" y="1"/>
            <a:ext cx="10183761" cy="1690688"/>
          </a:xfrm>
        </p:spPr>
        <p:txBody>
          <a:bodyPr>
            <a:normAutofit/>
          </a:bodyPr>
          <a:lstStyle/>
          <a:p>
            <a:r>
              <a:rPr lang="en-US" sz="4000" b="1" dirty="0"/>
              <a:t>                  </a:t>
            </a:r>
            <a:r>
              <a:rPr lang="en-US" sz="4000" b="1" u="sng" dirty="0"/>
              <a:t>PROBLEM STATEMENT</a:t>
            </a:r>
            <a:endParaRPr lang="en-IN" sz="4000" b="1" u="sng" dirty="0"/>
          </a:p>
        </p:txBody>
      </p:sp>
      <p:sp>
        <p:nvSpPr>
          <p:cNvPr id="3" name="Content Placeholder 2">
            <a:extLst>
              <a:ext uri="{FF2B5EF4-FFF2-40B4-BE49-F238E27FC236}">
                <a16:creationId xmlns:a16="http://schemas.microsoft.com/office/drawing/2014/main" id="{4908A55E-B59E-ED07-5DF9-937292C8FAAC}"/>
              </a:ext>
            </a:extLst>
          </p:cNvPr>
          <p:cNvSpPr>
            <a:spLocks noGrp="1"/>
          </p:cNvSpPr>
          <p:nvPr>
            <p:ph idx="1"/>
          </p:nvPr>
        </p:nvSpPr>
        <p:spPr>
          <a:xfrm>
            <a:off x="599768" y="1956619"/>
            <a:ext cx="10754032" cy="4220344"/>
          </a:xfrm>
        </p:spPr>
        <p:txBody>
          <a:bodyPr>
            <a:normAutofit lnSpcReduction="10000"/>
          </a:bodyPr>
          <a:lstStyle/>
          <a:p>
            <a:pPr marL="0" indent="0" algn="just">
              <a:buNone/>
            </a:pPr>
            <a:r>
              <a:rPr lang="en-US" sz="2200" dirty="0"/>
              <a:t>“</a:t>
            </a:r>
            <a:r>
              <a:rPr lang="en-US" sz="2200" b="1" dirty="0"/>
              <a:t>IoT systems generate large amounts of continuous data from sensors and devices.</a:t>
            </a:r>
            <a:br>
              <a:rPr lang="en-US" sz="2200" b="1" dirty="0"/>
            </a:br>
            <a:r>
              <a:rPr lang="en-US" sz="2200" b="1" dirty="0"/>
              <a:t> However, ensuring reliable, ordered, secure, and scalable communication between   these devices and cloud applications is challenging</a:t>
            </a:r>
            <a:r>
              <a:rPr lang="en-US" sz="2200" dirty="0"/>
              <a:t>.”</a:t>
            </a:r>
          </a:p>
          <a:p>
            <a:pPr marL="0" indent="0" algn="just">
              <a:buNone/>
            </a:pPr>
            <a:endParaRPr lang="en-US" sz="2200" dirty="0"/>
          </a:p>
          <a:p>
            <a:pPr marL="0" indent="0">
              <a:buNone/>
            </a:pPr>
            <a:r>
              <a:rPr lang="en-US" sz="2200" dirty="0"/>
              <a:t>The problem is to identify and use a messaging protocol that:</a:t>
            </a:r>
          </a:p>
          <a:p>
            <a:r>
              <a:rPr lang="en-US" sz="2200" dirty="0"/>
              <a:t>Guarantees </a:t>
            </a:r>
            <a:r>
              <a:rPr lang="en-US" sz="2200" b="1" dirty="0"/>
              <a:t>message delivery without loss</a:t>
            </a:r>
            <a:endParaRPr lang="en-US" sz="2200" dirty="0"/>
          </a:p>
          <a:p>
            <a:r>
              <a:rPr lang="en-US" sz="2200" dirty="0"/>
              <a:t>Works efficiently in </a:t>
            </a:r>
            <a:r>
              <a:rPr lang="en-US" sz="2200" b="1" dirty="0"/>
              <a:t>large-scale IoT environments</a:t>
            </a:r>
            <a:endParaRPr lang="en-US" sz="2200" dirty="0"/>
          </a:p>
          <a:p>
            <a:r>
              <a:rPr lang="en-US" sz="2200" dirty="0"/>
              <a:t>Supports </a:t>
            </a:r>
            <a:r>
              <a:rPr lang="en-US" sz="2200" b="1" dirty="0"/>
              <a:t>routing, queuing, and asynchronous communication</a:t>
            </a:r>
            <a:endParaRPr lang="en-US" sz="2200" dirty="0"/>
          </a:p>
          <a:p>
            <a:r>
              <a:rPr lang="en-US" sz="2200" dirty="0"/>
              <a:t>Provides </a:t>
            </a:r>
            <a:r>
              <a:rPr lang="en-US" sz="2200" b="1" dirty="0"/>
              <a:t>security, interoperability, and scalability</a:t>
            </a:r>
          </a:p>
          <a:p>
            <a:pPr marL="0" indent="0">
              <a:buNone/>
            </a:pPr>
            <a:endParaRPr lang="en-US" sz="2200" b="1" dirty="0"/>
          </a:p>
          <a:p>
            <a:pPr marL="0" indent="0">
              <a:buNone/>
            </a:pPr>
            <a:r>
              <a:rPr lang="en-US" sz="2200" dirty="0"/>
              <a:t>AMQP is explored as a solution to these IoT communication challenges.</a:t>
            </a:r>
          </a:p>
          <a:p>
            <a:endParaRPr lang="en-IN" dirty="0"/>
          </a:p>
        </p:txBody>
      </p:sp>
      <p:sp>
        <p:nvSpPr>
          <p:cNvPr id="5" name="Footer Placeholder 4">
            <a:extLst>
              <a:ext uri="{FF2B5EF4-FFF2-40B4-BE49-F238E27FC236}">
                <a16:creationId xmlns:a16="http://schemas.microsoft.com/office/drawing/2014/main" id="{99A9AC29-F4DC-7D8E-0297-7B24F43264F1}"/>
              </a:ext>
            </a:extLst>
          </p:cNvPr>
          <p:cNvSpPr>
            <a:spLocks noGrp="1"/>
          </p:cNvSpPr>
          <p:nvPr>
            <p:ph type="ftr" sz="quarter" idx="11"/>
          </p:nvPr>
        </p:nvSpPr>
        <p:spPr/>
        <p:txBody>
          <a:bodyPr/>
          <a:lstStyle/>
          <a:p>
            <a:r>
              <a:rPr lang="en-US" dirty="0">
                <a:solidFill>
                  <a:srgbClr val="FF0000"/>
                </a:solidFill>
              </a:rPr>
              <a:t>Faculty of Engineering and Technology</a:t>
            </a:r>
          </a:p>
        </p:txBody>
      </p:sp>
      <p:sp>
        <p:nvSpPr>
          <p:cNvPr id="7" name="Rectangle 6">
            <a:extLst>
              <a:ext uri="{FF2B5EF4-FFF2-40B4-BE49-F238E27FC236}">
                <a16:creationId xmlns:a16="http://schemas.microsoft.com/office/drawing/2014/main" id="{5BAF6AE8-804A-1D49-C080-D5124C464EFA}"/>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logo of a tree and book&#10;&#10;Description automatically generated">
            <a:extLst>
              <a:ext uri="{FF2B5EF4-FFF2-40B4-BE49-F238E27FC236}">
                <a16:creationId xmlns:a16="http://schemas.microsoft.com/office/drawing/2014/main" id="{10DD72BF-C937-03B7-73E5-D218BA23C64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927302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ogo of a tree and book&#10;&#10;Description automatically generated">
            <a:extLst>
              <a:ext uri="{FF2B5EF4-FFF2-40B4-BE49-F238E27FC236}">
                <a16:creationId xmlns:a16="http://schemas.microsoft.com/office/drawing/2014/main" id="{6BF0CB14-19F8-FF47-9899-6F6A3DC0CA7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256" y="0"/>
            <a:ext cx="1222744" cy="1095155"/>
          </a:xfrm>
          <a:prstGeom prst="rect">
            <a:avLst/>
          </a:prstGeom>
        </p:spPr>
      </p:pic>
      <p:sp>
        <p:nvSpPr>
          <p:cNvPr id="7" name="Rectangle 6">
            <a:extLst>
              <a:ext uri="{FF2B5EF4-FFF2-40B4-BE49-F238E27FC236}">
                <a16:creationId xmlns:a16="http://schemas.microsoft.com/office/drawing/2014/main" id="{8C071211-F3DE-EDBF-BCAA-B2E68444FB2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2644877" y="83041"/>
            <a:ext cx="9547119" cy="646331"/>
          </a:xfrm>
          <a:prstGeom prst="rect">
            <a:avLst/>
          </a:prstGeom>
        </p:spPr>
        <p:txBody>
          <a:bodyPr wrap="square">
            <a:spAutoFit/>
          </a:bodyPr>
          <a:lstStyle/>
          <a:p>
            <a:r>
              <a:rPr lang="en-IN" sz="3600" b="1" u="sng" dirty="0"/>
              <a:t>AMQP ARCHITECTURE</a:t>
            </a:r>
            <a:endParaRPr lang="en-US" sz="3600" b="1" u="sng" dirty="0"/>
          </a:p>
        </p:txBody>
      </p:sp>
      <p:sp>
        <p:nvSpPr>
          <p:cNvPr id="17"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467833" y="6409833"/>
            <a:ext cx="11724168" cy="365125"/>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1600" dirty="0">
                <a:solidFill>
                  <a:srgbClr val="C00000"/>
                </a:solidFill>
                <a:latin typeface="+mj-lt"/>
                <a:ea typeface="Calibri" pitchFamily="34" charset="0"/>
                <a:cs typeface="Calibri" pitchFamily="34" charset="0"/>
              </a:rPr>
              <a:t>Faculty of Engineering and Technology</a:t>
            </a:r>
          </a:p>
          <a:p>
            <a:endParaRPr lang="en-US" sz="2000" b="1" dirty="0">
              <a:solidFill>
                <a:srgbClr val="C00000"/>
              </a:solidFill>
              <a:latin typeface="Calibri" pitchFamily="34" charset="0"/>
              <a:ea typeface="Calibri" pitchFamily="34" charset="0"/>
              <a:cs typeface="Calibri" pitchFamily="34" charset="0"/>
            </a:endParaRPr>
          </a:p>
        </p:txBody>
      </p:sp>
      <p:sp>
        <p:nvSpPr>
          <p:cNvPr id="8" name="TextBox 7">
            <a:extLst>
              <a:ext uri="{FF2B5EF4-FFF2-40B4-BE49-F238E27FC236}">
                <a16:creationId xmlns:a16="http://schemas.microsoft.com/office/drawing/2014/main" id="{19492C11-BA7D-02B7-6EE8-EC9A77584531}"/>
              </a:ext>
            </a:extLst>
          </p:cNvPr>
          <p:cNvSpPr txBox="1"/>
          <p:nvPr/>
        </p:nvSpPr>
        <p:spPr>
          <a:xfrm>
            <a:off x="1322440" y="1307445"/>
            <a:ext cx="9547119" cy="4524315"/>
          </a:xfrm>
          <a:prstGeom prst="rect">
            <a:avLst/>
          </a:prstGeom>
          <a:noFill/>
        </p:spPr>
        <p:txBody>
          <a:bodyPr wrap="square">
            <a:spAutoFit/>
          </a:bodyPr>
          <a:lstStyle/>
          <a:p>
            <a:pPr>
              <a:buNone/>
            </a:pPr>
            <a:r>
              <a:rPr lang="en-IN" b="1" dirty="0"/>
              <a:t>1️⃣ Producer (Sender)</a:t>
            </a:r>
          </a:p>
          <a:p>
            <a:pPr>
              <a:buFont typeface="Arial" panose="020B0604020202020204" pitchFamily="34" charset="0"/>
              <a:buChar char="•"/>
            </a:pPr>
            <a:r>
              <a:rPr lang="en-IN" dirty="0"/>
              <a:t>IoT devices or applications that send sensor data</a:t>
            </a:r>
          </a:p>
          <a:p>
            <a:pPr>
              <a:buFont typeface="Arial" panose="020B0604020202020204" pitchFamily="34" charset="0"/>
              <a:buChar char="•"/>
            </a:pPr>
            <a:r>
              <a:rPr lang="en-IN" dirty="0"/>
              <a:t>Example: temperature sensor sending readings</a:t>
            </a:r>
          </a:p>
          <a:p>
            <a:endParaRPr lang="en-IN" dirty="0"/>
          </a:p>
          <a:p>
            <a:pPr>
              <a:buNone/>
            </a:pPr>
            <a:r>
              <a:rPr lang="en-IN" b="1" dirty="0"/>
              <a:t>2️⃣ Message Broker</a:t>
            </a:r>
          </a:p>
          <a:p>
            <a:pPr>
              <a:buFont typeface="Arial" panose="020B0604020202020204" pitchFamily="34" charset="0"/>
              <a:buChar char="•"/>
            </a:pPr>
            <a:r>
              <a:rPr lang="en-IN" dirty="0"/>
              <a:t>Central server that receives, stores, and routes messages</a:t>
            </a:r>
          </a:p>
          <a:p>
            <a:pPr>
              <a:buFont typeface="Arial" panose="020B0604020202020204" pitchFamily="34" charset="0"/>
              <a:buChar char="•"/>
            </a:pPr>
            <a:r>
              <a:rPr lang="en-IN" dirty="0"/>
              <a:t>Manages queues and exchanges</a:t>
            </a:r>
          </a:p>
          <a:p>
            <a:pPr>
              <a:buFont typeface="Arial" panose="020B0604020202020204" pitchFamily="34" charset="0"/>
              <a:buChar char="•"/>
            </a:pPr>
            <a:r>
              <a:rPr lang="en-IN" dirty="0"/>
              <a:t>Examples: </a:t>
            </a:r>
            <a:r>
              <a:rPr lang="en-IN" b="1" dirty="0"/>
              <a:t>RabbitMQ</a:t>
            </a:r>
            <a:r>
              <a:rPr lang="en-IN" dirty="0"/>
              <a:t>, </a:t>
            </a:r>
            <a:r>
              <a:rPr lang="en-IN" b="1" dirty="0"/>
              <a:t>ActiveMQ</a:t>
            </a:r>
          </a:p>
          <a:p>
            <a:endParaRPr lang="en-IN" dirty="0"/>
          </a:p>
          <a:p>
            <a:pPr>
              <a:buNone/>
            </a:pPr>
            <a:r>
              <a:rPr lang="en-IN" b="1" dirty="0"/>
              <a:t>3️⃣ Exchange</a:t>
            </a:r>
          </a:p>
          <a:p>
            <a:pPr>
              <a:buFont typeface="Arial" panose="020B0604020202020204" pitchFamily="34" charset="0"/>
              <a:buChar char="•"/>
            </a:pPr>
            <a:r>
              <a:rPr lang="en-IN" dirty="0"/>
              <a:t>Component inside the broker that decides </a:t>
            </a:r>
            <a:r>
              <a:rPr lang="en-IN" i="1" dirty="0"/>
              <a:t>how</a:t>
            </a:r>
            <a:r>
              <a:rPr lang="en-IN" dirty="0"/>
              <a:t> to route messages</a:t>
            </a:r>
          </a:p>
          <a:p>
            <a:pPr>
              <a:buFont typeface="Arial" panose="020B0604020202020204" pitchFamily="34" charset="0"/>
              <a:buChar char="•"/>
            </a:pPr>
            <a:r>
              <a:rPr lang="en-IN" dirty="0"/>
              <a:t>Types:</a:t>
            </a:r>
          </a:p>
          <a:p>
            <a:pPr marL="742950" lvl="1" indent="-285750">
              <a:buFont typeface="Arial" panose="020B0604020202020204" pitchFamily="34" charset="0"/>
              <a:buChar char="•"/>
            </a:pPr>
            <a:r>
              <a:rPr lang="en-IN" b="1" dirty="0"/>
              <a:t>Direct Exchange</a:t>
            </a:r>
            <a:r>
              <a:rPr lang="en-IN" dirty="0"/>
              <a:t> – exact match</a:t>
            </a:r>
          </a:p>
          <a:p>
            <a:pPr marL="742950" lvl="1" indent="-285750">
              <a:buFont typeface="Arial" panose="020B0604020202020204" pitchFamily="34" charset="0"/>
              <a:buChar char="•"/>
            </a:pPr>
            <a:r>
              <a:rPr lang="en-IN" b="1" dirty="0"/>
              <a:t>Topic Exchange</a:t>
            </a:r>
            <a:r>
              <a:rPr lang="en-IN" dirty="0"/>
              <a:t> – pattern-based routing</a:t>
            </a:r>
          </a:p>
          <a:p>
            <a:pPr marL="742950" lvl="1" indent="-285750">
              <a:buFont typeface="Arial" panose="020B0604020202020204" pitchFamily="34" charset="0"/>
              <a:buChar char="•"/>
            </a:pPr>
            <a:r>
              <a:rPr lang="en-IN" b="1" dirty="0"/>
              <a:t>Fanout Exchange</a:t>
            </a:r>
            <a:r>
              <a:rPr lang="en-IN" dirty="0"/>
              <a:t> – broadcast to all queues</a:t>
            </a:r>
          </a:p>
          <a:p>
            <a:pPr marL="742950" lvl="1" indent="-285750">
              <a:buFont typeface="Arial" panose="020B0604020202020204" pitchFamily="34" charset="0"/>
              <a:buChar char="•"/>
            </a:pPr>
            <a:r>
              <a:rPr lang="en-IN" b="1" dirty="0"/>
              <a:t>Headers Exchange</a:t>
            </a:r>
            <a:r>
              <a:rPr lang="en-IN" dirty="0"/>
              <a:t> – routing based on message metadata</a:t>
            </a:r>
          </a:p>
        </p:txBody>
      </p:sp>
    </p:spTree>
    <p:extLst>
      <p:ext uri="{BB962C8B-B14F-4D97-AF65-F5344CB8AC3E}">
        <p14:creationId xmlns:p14="http://schemas.microsoft.com/office/powerpoint/2010/main" val="1620948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DA8EA-3653-3A9E-12F6-AA675CF037FD}"/>
              </a:ext>
            </a:extLst>
          </p:cNvPr>
          <p:cNvSpPr>
            <a:spLocks noGrp="1"/>
          </p:cNvSpPr>
          <p:nvPr>
            <p:ph idx="1"/>
          </p:nvPr>
        </p:nvSpPr>
        <p:spPr>
          <a:xfrm>
            <a:off x="540774" y="698089"/>
            <a:ext cx="6921910" cy="5112775"/>
          </a:xfrm>
        </p:spPr>
        <p:txBody>
          <a:bodyPr>
            <a:normAutofit fontScale="62500" lnSpcReduction="20000"/>
          </a:bodyPr>
          <a:lstStyle/>
          <a:p>
            <a:pPr marL="0" indent="0">
              <a:buNone/>
            </a:pPr>
            <a:r>
              <a:rPr lang="en-IN" b="1" dirty="0"/>
              <a:t>4️⃣ Queue</a:t>
            </a:r>
          </a:p>
          <a:p>
            <a:r>
              <a:rPr lang="en-IN" dirty="0"/>
              <a:t>Temporary storage for messages until a consumer receives them</a:t>
            </a:r>
          </a:p>
          <a:p>
            <a:r>
              <a:rPr lang="en-IN" dirty="0"/>
              <a:t>Ensures messages are not lost</a:t>
            </a:r>
          </a:p>
          <a:p>
            <a:pPr marL="0" indent="0">
              <a:buNone/>
            </a:pPr>
            <a:endParaRPr lang="en-IN" dirty="0"/>
          </a:p>
          <a:p>
            <a:pPr marL="0" indent="0">
              <a:buNone/>
            </a:pPr>
            <a:r>
              <a:rPr lang="en-IN" b="1" dirty="0"/>
              <a:t>5️⃣ Binding</a:t>
            </a:r>
          </a:p>
          <a:p>
            <a:r>
              <a:rPr lang="en-IN" dirty="0"/>
              <a:t>Rule that connects </a:t>
            </a:r>
            <a:r>
              <a:rPr lang="en-IN" b="1" dirty="0"/>
              <a:t>Exchanges → Queues</a:t>
            </a:r>
            <a:endParaRPr lang="en-IN" dirty="0"/>
          </a:p>
          <a:p>
            <a:r>
              <a:rPr lang="en-IN" dirty="0"/>
              <a:t>Defines how messages get mapped to queues</a:t>
            </a:r>
          </a:p>
          <a:p>
            <a:pPr marL="0" indent="0">
              <a:buNone/>
            </a:pPr>
            <a:endParaRPr lang="en-IN" dirty="0"/>
          </a:p>
          <a:p>
            <a:pPr marL="0" indent="0">
              <a:buNone/>
            </a:pPr>
            <a:r>
              <a:rPr lang="en-IN" b="1" dirty="0"/>
              <a:t>6️⃣ Consumer (Receiver)</a:t>
            </a:r>
          </a:p>
          <a:p>
            <a:r>
              <a:rPr lang="en-IN" dirty="0"/>
              <a:t>Applications or cloud services that receive messages</a:t>
            </a:r>
          </a:p>
          <a:p>
            <a:r>
              <a:rPr lang="en-IN" dirty="0"/>
              <a:t>Example: IoT dashboard, data analytics system</a:t>
            </a:r>
          </a:p>
          <a:p>
            <a:pPr marL="0" indent="0">
              <a:buNone/>
            </a:pPr>
            <a:endParaRPr lang="en-IN" dirty="0"/>
          </a:p>
          <a:p>
            <a:pPr marL="0" indent="0">
              <a:buNone/>
            </a:pPr>
            <a:r>
              <a:rPr lang="en-IN" b="1" dirty="0"/>
              <a:t>7️⃣ Acknowledgements (ACK)</a:t>
            </a:r>
          </a:p>
          <a:p>
            <a:r>
              <a:rPr lang="en-IN" dirty="0"/>
              <a:t>Consumer confirms message is received</a:t>
            </a:r>
          </a:p>
          <a:p>
            <a:r>
              <a:rPr lang="en-IN" dirty="0"/>
              <a:t>Ensures reliable delivery</a:t>
            </a:r>
          </a:p>
          <a:p>
            <a:r>
              <a:rPr lang="en-IN" dirty="0"/>
              <a:t>Prevents message loss or duplication</a:t>
            </a:r>
          </a:p>
          <a:p>
            <a:pPr marL="0" indent="0">
              <a:buNone/>
            </a:pPr>
            <a:endParaRPr lang="en-IN" dirty="0"/>
          </a:p>
        </p:txBody>
      </p:sp>
      <p:sp>
        <p:nvSpPr>
          <p:cNvPr id="5" name="Footer Placeholder 4">
            <a:extLst>
              <a:ext uri="{FF2B5EF4-FFF2-40B4-BE49-F238E27FC236}">
                <a16:creationId xmlns:a16="http://schemas.microsoft.com/office/drawing/2014/main" id="{4DFCA39B-C687-A23F-30D0-6906D2DA431C}"/>
              </a:ext>
            </a:extLst>
          </p:cNvPr>
          <p:cNvSpPr>
            <a:spLocks noGrp="1"/>
          </p:cNvSpPr>
          <p:nvPr>
            <p:ph type="ftr" sz="quarter" idx="11"/>
          </p:nvPr>
        </p:nvSpPr>
        <p:spPr>
          <a:xfrm>
            <a:off x="2005781" y="6381134"/>
            <a:ext cx="6147619" cy="476865"/>
          </a:xfrm>
        </p:spPr>
        <p:txBody>
          <a:bodyPr/>
          <a:lstStyle/>
          <a:p>
            <a:r>
              <a:rPr lang="en-US" dirty="0">
                <a:solidFill>
                  <a:srgbClr val="FF0000"/>
                </a:solidFill>
              </a:rPr>
              <a:t>Faculty of Engineering and Technology</a:t>
            </a:r>
          </a:p>
        </p:txBody>
      </p:sp>
      <p:sp>
        <p:nvSpPr>
          <p:cNvPr id="9" name="Rectangle 8">
            <a:extLst>
              <a:ext uri="{FF2B5EF4-FFF2-40B4-BE49-F238E27FC236}">
                <a16:creationId xmlns:a16="http://schemas.microsoft.com/office/drawing/2014/main" id="{B652D4C2-05BB-E688-304C-D7846DCAED5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46" name="Picture 2">
            <a:extLst>
              <a:ext uri="{FF2B5EF4-FFF2-40B4-BE49-F238E27FC236}">
                <a16:creationId xmlns:a16="http://schemas.microsoft.com/office/drawing/2014/main" id="{E38902D8-57D5-ED4B-70B5-6F53166EE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2477" y="1415845"/>
            <a:ext cx="5889523" cy="4395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31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7B224-C314-6BB7-B242-50E606696945}"/>
              </a:ext>
            </a:extLst>
          </p:cNvPr>
          <p:cNvSpPr>
            <a:spLocks noGrp="1"/>
          </p:cNvSpPr>
          <p:nvPr>
            <p:ph type="title"/>
          </p:nvPr>
        </p:nvSpPr>
        <p:spPr>
          <a:xfrm>
            <a:off x="1002890" y="235974"/>
            <a:ext cx="10350910" cy="589936"/>
          </a:xfrm>
        </p:spPr>
        <p:txBody>
          <a:bodyPr>
            <a:normAutofit fontScale="90000"/>
          </a:bodyPr>
          <a:lstStyle/>
          <a:p>
            <a:r>
              <a:rPr lang="en-US" b="1" dirty="0"/>
              <a:t>                      </a:t>
            </a:r>
            <a:r>
              <a:rPr lang="en-US" b="1" u="sng" dirty="0"/>
              <a:t>IMPLEMENTATION</a:t>
            </a:r>
            <a:endParaRPr lang="en-IN" b="1" u="sng" dirty="0"/>
          </a:p>
        </p:txBody>
      </p:sp>
      <p:sp>
        <p:nvSpPr>
          <p:cNvPr id="3" name="Content Placeholder 2">
            <a:extLst>
              <a:ext uri="{FF2B5EF4-FFF2-40B4-BE49-F238E27FC236}">
                <a16:creationId xmlns:a16="http://schemas.microsoft.com/office/drawing/2014/main" id="{80E79F85-7281-F557-57D1-940DD2FB623C}"/>
              </a:ext>
            </a:extLst>
          </p:cNvPr>
          <p:cNvSpPr>
            <a:spLocks noGrp="1"/>
          </p:cNvSpPr>
          <p:nvPr>
            <p:ph idx="1"/>
          </p:nvPr>
        </p:nvSpPr>
        <p:spPr>
          <a:xfrm>
            <a:off x="865239" y="1258912"/>
            <a:ext cx="10488560" cy="4918052"/>
          </a:xfrm>
        </p:spPr>
        <p:txBody>
          <a:bodyPr>
            <a:normAutofit fontScale="40000" lnSpcReduction="20000"/>
          </a:bodyPr>
          <a:lstStyle/>
          <a:p>
            <a:pPr marL="0" indent="0">
              <a:buNone/>
            </a:pPr>
            <a:r>
              <a:rPr lang="en-IN" sz="6200" b="1" dirty="0"/>
              <a:t>1️⃣ Setup AMQP Broker</a:t>
            </a:r>
          </a:p>
          <a:p>
            <a:r>
              <a:rPr lang="en-IN" sz="6200" dirty="0"/>
              <a:t>Install and configure </a:t>
            </a:r>
            <a:r>
              <a:rPr lang="en-IN" sz="6200" b="1" dirty="0"/>
              <a:t>RabbitMQ/ActiveMQ</a:t>
            </a:r>
            <a:endParaRPr lang="en-IN" sz="6200" dirty="0"/>
          </a:p>
          <a:p>
            <a:r>
              <a:rPr lang="en-IN" sz="6200" dirty="0"/>
              <a:t>Enable AMQP protocol and create users, permissions, and virtual hosts</a:t>
            </a:r>
          </a:p>
          <a:p>
            <a:pPr marL="0" indent="0">
              <a:buNone/>
            </a:pPr>
            <a:endParaRPr lang="en-IN" sz="6200" dirty="0"/>
          </a:p>
          <a:p>
            <a:pPr marL="0" indent="0">
              <a:buNone/>
            </a:pPr>
            <a:r>
              <a:rPr lang="en-IN" sz="6200" b="1" dirty="0"/>
              <a:t>2️⃣ Connect IoT Devices (Producers)</a:t>
            </a:r>
          </a:p>
          <a:p>
            <a:r>
              <a:rPr lang="en-IN" sz="6200" dirty="0"/>
              <a:t>Sensors or Raspberry Pi send data</a:t>
            </a:r>
          </a:p>
          <a:p>
            <a:r>
              <a:rPr lang="en-IN" sz="6200" dirty="0"/>
              <a:t>Use AMQP libraries in Python/Java/Node.js to publish messages</a:t>
            </a:r>
          </a:p>
          <a:p>
            <a:pPr marL="0" indent="0">
              <a:buNone/>
            </a:pPr>
            <a:endParaRPr lang="en-IN" sz="6200" dirty="0"/>
          </a:p>
          <a:p>
            <a:pPr marL="0" indent="0">
              <a:buNone/>
            </a:pPr>
            <a:r>
              <a:rPr lang="en-IN" sz="6200" b="1" dirty="0"/>
              <a:t>3️⃣ Create Exchanges &amp; Queues</a:t>
            </a:r>
          </a:p>
          <a:p>
            <a:r>
              <a:rPr lang="en-IN" sz="6200" dirty="0"/>
              <a:t>Define </a:t>
            </a:r>
            <a:r>
              <a:rPr lang="en-IN" sz="6200" b="1" dirty="0"/>
              <a:t>direct/topic exchanges</a:t>
            </a:r>
            <a:endParaRPr lang="en-IN" sz="6200" dirty="0"/>
          </a:p>
          <a:p>
            <a:r>
              <a:rPr lang="en-IN" sz="6200" dirty="0"/>
              <a:t>Bind queues using routing keys</a:t>
            </a:r>
          </a:p>
          <a:p>
            <a:r>
              <a:rPr lang="en-IN" sz="6200" dirty="0"/>
              <a:t>Example: </a:t>
            </a:r>
            <a:r>
              <a:rPr lang="en-IN" sz="6200" i="1" dirty="0" err="1"/>
              <a:t>sensor_exchange</a:t>
            </a:r>
            <a:r>
              <a:rPr lang="en-IN" sz="6200" i="1" dirty="0"/>
              <a:t> → </a:t>
            </a:r>
            <a:r>
              <a:rPr lang="en-IN" sz="6200" i="1" dirty="0" err="1"/>
              <a:t>temperature_queue</a:t>
            </a:r>
            <a:r>
              <a:rPr lang="en-IN" sz="6200" i="1" dirty="0"/>
              <a:t> → </a:t>
            </a:r>
            <a:r>
              <a:rPr lang="en-IN" sz="6200" i="1" dirty="0" err="1"/>
              <a:t>temp.data</a:t>
            </a:r>
            <a:endParaRPr lang="en-IN" sz="6200" dirty="0"/>
          </a:p>
          <a:p>
            <a:pPr marL="0" indent="0">
              <a:buNone/>
            </a:pPr>
            <a:endParaRPr lang="en-IN" dirty="0"/>
          </a:p>
        </p:txBody>
      </p:sp>
      <p:sp>
        <p:nvSpPr>
          <p:cNvPr id="5" name="Footer Placeholder 4">
            <a:extLst>
              <a:ext uri="{FF2B5EF4-FFF2-40B4-BE49-F238E27FC236}">
                <a16:creationId xmlns:a16="http://schemas.microsoft.com/office/drawing/2014/main" id="{86689152-21A4-891A-CA0E-248201B71696}"/>
              </a:ext>
            </a:extLst>
          </p:cNvPr>
          <p:cNvSpPr>
            <a:spLocks noGrp="1"/>
          </p:cNvSpPr>
          <p:nvPr>
            <p:ph type="ftr" sz="quarter" idx="11"/>
          </p:nvPr>
        </p:nvSpPr>
        <p:spPr/>
        <p:txBody>
          <a:bodyPr/>
          <a:lstStyle/>
          <a:p>
            <a:r>
              <a:rPr lang="en-US" dirty="0">
                <a:solidFill>
                  <a:srgbClr val="FF0000"/>
                </a:solidFill>
              </a:rPr>
              <a:t>Faculty of Engineering and Technology</a:t>
            </a:r>
          </a:p>
        </p:txBody>
      </p:sp>
      <p:sp>
        <p:nvSpPr>
          <p:cNvPr id="7" name="Rectangle 6">
            <a:extLst>
              <a:ext uri="{FF2B5EF4-FFF2-40B4-BE49-F238E27FC236}">
                <a16:creationId xmlns:a16="http://schemas.microsoft.com/office/drawing/2014/main" id="{E4AD4141-51A2-3465-9A16-3D068C17BE7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logo of a tree and book&#10;&#10;Description automatically generated">
            <a:extLst>
              <a:ext uri="{FF2B5EF4-FFF2-40B4-BE49-F238E27FC236}">
                <a16:creationId xmlns:a16="http://schemas.microsoft.com/office/drawing/2014/main" id="{BA8BB818-FABC-56C4-83E0-7C38C4186EC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4274325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0A842B3F-B385-BEE3-73FC-DB38F2B24933}"/>
              </a:ext>
            </a:extLst>
          </p:cNvPr>
          <p:cNvSpPr>
            <a:spLocks noGrp="1"/>
          </p:cNvSpPr>
          <p:nvPr>
            <p:ph type="ftr" sz="quarter" idx="11"/>
          </p:nvPr>
        </p:nvSpPr>
        <p:spPr>
          <a:xfrm>
            <a:off x="2765322" y="6499122"/>
            <a:ext cx="5388078" cy="358877"/>
          </a:xfrm>
        </p:spPr>
        <p:txBody>
          <a:bodyPr/>
          <a:lstStyle/>
          <a:p>
            <a:r>
              <a:rPr lang="en-US" dirty="0">
                <a:solidFill>
                  <a:srgbClr val="FF0000"/>
                </a:solidFill>
              </a:rPr>
              <a:t>Faculty of Engineering and Technology</a:t>
            </a:r>
          </a:p>
        </p:txBody>
      </p:sp>
      <p:sp>
        <p:nvSpPr>
          <p:cNvPr id="6" name="Slide Number Placeholder 5">
            <a:extLst>
              <a:ext uri="{FF2B5EF4-FFF2-40B4-BE49-F238E27FC236}">
                <a16:creationId xmlns:a16="http://schemas.microsoft.com/office/drawing/2014/main" id="{A9A59CCE-D6CF-20F4-813D-A02EE3A42D3F}"/>
              </a:ext>
            </a:extLst>
          </p:cNvPr>
          <p:cNvSpPr>
            <a:spLocks noGrp="1"/>
          </p:cNvSpPr>
          <p:nvPr>
            <p:ph type="sldNum" sz="quarter" idx="12"/>
          </p:nvPr>
        </p:nvSpPr>
        <p:spPr/>
        <p:txBody>
          <a:bodyPr/>
          <a:lstStyle/>
          <a:p>
            <a:fld id="{9FDC911C-A319-4FC6-9017-944A3A3C7762}" type="slidenum">
              <a:rPr lang="en-US" smtClean="0"/>
              <a:t>8</a:t>
            </a:fld>
            <a:endParaRPr lang="en-US"/>
          </a:p>
        </p:txBody>
      </p:sp>
      <p:sp>
        <p:nvSpPr>
          <p:cNvPr id="8" name="TextBox 7">
            <a:extLst>
              <a:ext uri="{FF2B5EF4-FFF2-40B4-BE49-F238E27FC236}">
                <a16:creationId xmlns:a16="http://schemas.microsoft.com/office/drawing/2014/main" id="{7C9B529F-902A-E350-915F-4735034B1187}"/>
              </a:ext>
            </a:extLst>
          </p:cNvPr>
          <p:cNvSpPr txBox="1"/>
          <p:nvPr/>
        </p:nvSpPr>
        <p:spPr>
          <a:xfrm>
            <a:off x="816077" y="1465005"/>
            <a:ext cx="11484078" cy="3785652"/>
          </a:xfrm>
          <a:prstGeom prst="rect">
            <a:avLst/>
          </a:prstGeom>
          <a:noFill/>
        </p:spPr>
        <p:txBody>
          <a:bodyPr wrap="square">
            <a:spAutoFit/>
          </a:bodyPr>
          <a:lstStyle/>
          <a:p>
            <a:r>
              <a:rPr lang="en-IN" sz="2000" b="1" dirty="0"/>
              <a:t>4️⃣ Setup Consumer Application</a:t>
            </a:r>
          </a:p>
          <a:p>
            <a:r>
              <a:rPr lang="en-IN" sz="2000" dirty="0"/>
              <a:t>Cloud or local app listens to queues</a:t>
            </a:r>
          </a:p>
          <a:p>
            <a:r>
              <a:rPr lang="en-IN" sz="2000" dirty="0"/>
              <a:t>Processes received IoT data</a:t>
            </a:r>
          </a:p>
          <a:p>
            <a:r>
              <a:rPr lang="en-IN" sz="2000" dirty="0"/>
              <a:t>Sends </a:t>
            </a:r>
            <a:r>
              <a:rPr lang="en-IN" sz="2000" b="1" dirty="0"/>
              <a:t>ACK</a:t>
            </a:r>
            <a:r>
              <a:rPr lang="en-IN" sz="2000" dirty="0"/>
              <a:t> after successful delivery</a:t>
            </a:r>
          </a:p>
          <a:p>
            <a:endParaRPr lang="en-IN" sz="2000" dirty="0"/>
          </a:p>
          <a:p>
            <a:r>
              <a:rPr lang="en-IN" sz="2000" b="1" dirty="0"/>
              <a:t>5️⃣ Data Processing &amp; Storage</a:t>
            </a:r>
          </a:p>
          <a:p>
            <a:r>
              <a:rPr lang="en-IN" sz="2000" dirty="0"/>
              <a:t>Save data in </a:t>
            </a:r>
            <a:r>
              <a:rPr lang="en-IN" sz="2000" b="1" dirty="0"/>
              <a:t>MongoDB/MySQL/Firebase etc….</a:t>
            </a:r>
            <a:endParaRPr lang="en-IN" sz="2000" dirty="0"/>
          </a:p>
          <a:p>
            <a:r>
              <a:rPr lang="en-IN" sz="2000" dirty="0"/>
              <a:t>Visualize on dashboards</a:t>
            </a:r>
          </a:p>
          <a:p>
            <a:endParaRPr lang="en-IN" sz="2000" dirty="0"/>
          </a:p>
          <a:p>
            <a:r>
              <a:rPr lang="en-IN" sz="2000" b="1" dirty="0"/>
              <a:t>6️⃣ Testing &amp; Validation</a:t>
            </a:r>
          </a:p>
          <a:p>
            <a:r>
              <a:rPr lang="en-IN" sz="2000" dirty="0"/>
              <a:t>Check reliability and ordering</a:t>
            </a:r>
          </a:p>
          <a:p>
            <a:r>
              <a:rPr lang="en-IN" sz="2000" dirty="0"/>
              <a:t>Test network failures and device failures</a:t>
            </a:r>
          </a:p>
        </p:txBody>
      </p:sp>
      <p:sp>
        <p:nvSpPr>
          <p:cNvPr id="10" name="Rectangle 9">
            <a:extLst>
              <a:ext uri="{FF2B5EF4-FFF2-40B4-BE49-F238E27FC236}">
                <a16:creationId xmlns:a16="http://schemas.microsoft.com/office/drawing/2014/main" id="{B2EC2694-BD34-7A6C-C330-38D57005375A}"/>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2">
            <a:extLst>
              <a:ext uri="{FF2B5EF4-FFF2-40B4-BE49-F238E27FC236}">
                <a16:creationId xmlns:a16="http://schemas.microsoft.com/office/drawing/2014/main" id="{6FB80283-F8E4-C6E0-BCD0-30E917DD71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3922" y="0"/>
            <a:ext cx="5388078" cy="313649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36D7D13F-E76E-8401-AF27-C64D4887C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3922" y="3618578"/>
            <a:ext cx="5388078" cy="2737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51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69AB7-37DC-73B3-1954-7DC4185D95BA}"/>
              </a:ext>
            </a:extLst>
          </p:cNvPr>
          <p:cNvSpPr>
            <a:spLocks noGrp="1"/>
          </p:cNvSpPr>
          <p:nvPr>
            <p:ph idx="1"/>
          </p:nvPr>
        </p:nvSpPr>
        <p:spPr>
          <a:xfrm>
            <a:off x="838200" y="904568"/>
            <a:ext cx="10515600" cy="5272395"/>
          </a:xfrm>
        </p:spPr>
        <p:txBody>
          <a:bodyPr>
            <a:normAutofit fontScale="92500" lnSpcReduction="20000"/>
          </a:bodyPr>
          <a:lstStyle/>
          <a:p>
            <a:pPr marL="0" indent="0">
              <a:buNone/>
            </a:pPr>
            <a:r>
              <a:rPr lang="en-IN" b="1" u="sng" dirty="0"/>
              <a:t>AMQP Frame Types </a:t>
            </a:r>
          </a:p>
          <a:p>
            <a:pPr marL="0" indent="0">
              <a:buNone/>
            </a:pPr>
            <a:r>
              <a:rPr lang="en-IN" dirty="0"/>
              <a:t> </a:t>
            </a:r>
            <a:endParaRPr lang="en-IN" b="1" dirty="0"/>
          </a:p>
          <a:p>
            <a:pPr marL="0" indent="0">
              <a:buNone/>
            </a:pPr>
            <a:r>
              <a:rPr lang="en-IN" dirty="0"/>
              <a:t>There are nine frame types in AMQP: </a:t>
            </a:r>
          </a:p>
          <a:p>
            <a:pPr marL="0" indent="0">
              <a:buNone/>
            </a:pPr>
            <a:r>
              <a:rPr lang="en-IN" dirty="0"/>
              <a:t> </a:t>
            </a:r>
          </a:p>
          <a:p>
            <a:r>
              <a:rPr lang="en-IN" b="1" dirty="0"/>
              <a:t>Open -</a:t>
            </a:r>
            <a:r>
              <a:rPr lang="en-IN" dirty="0"/>
              <a:t>Starts the connection between two systems.  </a:t>
            </a:r>
          </a:p>
          <a:p>
            <a:pPr lvl="0" fontAlgn="base"/>
            <a:r>
              <a:rPr lang="en-IN" b="1" dirty="0"/>
              <a:t>Begin -</a:t>
            </a:r>
            <a:r>
              <a:rPr lang="en-IN" dirty="0"/>
              <a:t>Starts a messaging session.  </a:t>
            </a:r>
          </a:p>
          <a:p>
            <a:pPr lvl="0" fontAlgn="base"/>
            <a:r>
              <a:rPr lang="en-IN" b="1" dirty="0"/>
              <a:t>Attach- </a:t>
            </a:r>
            <a:r>
              <a:rPr lang="en-IN" dirty="0"/>
              <a:t>Connects a link for sending or receiving messages.  </a:t>
            </a:r>
          </a:p>
          <a:p>
            <a:pPr lvl="0" fontAlgn="base"/>
            <a:r>
              <a:rPr lang="en-IN" b="1" dirty="0"/>
              <a:t>Transfer- </a:t>
            </a:r>
            <a:r>
              <a:rPr lang="en-IN" dirty="0"/>
              <a:t>Sends the actual message.  </a:t>
            </a:r>
          </a:p>
          <a:p>
            <a:pPr lvl="0" fontAlgn="base"/>
            <a:r>
              <a:rPr lang="en-IN" b="1" dirty="0"/>
              <a:t>Flow -</a:t>
            </a:r>
            <a:r>
              <a:rPr lang="en-IN" dirty="0"/>
              <a:t>Controls the speed of message flow.  </a:t>
            </a:r>
          </a:p>
          <a:p>
            <a:pPr lvl="0" fontAlgn="base"/>
            <a:r>
              <a:rPr lang="en-IN" b="1" dirty="0"/>
              <a:t>Disposition- </a:t>
            </a:r>
            <a:r>
              <a:rPr lang="en-IN" dirty="0"/>
              <a:t>Confirms if the message was received or processed.  </a:t>
            </a:r>
          </a:p>
          <a:p>
            <a:pPr lvl="0" fontAlgn="base"/>
            <a:r>
              <a:rPr lang="en-IN" b="1" dirty="0"/>
              <a:t>Detach -</a:t>
            </a:r>
            <a:r>
              <a:rPr lang="en-IN" dirty="0"/>
              <a:t>Removes the link between the systems.  </a:t>
            </a:r>
          </a:p>
          <a:p>
            <a:pPr lvl="0" fontAlgn="base"/>
            <a:r>
              <a:rPr lang="en-IN" b="1" dirty="0"/>
              <a:t>End -</a:t>
            </a:r>
            <a:r>
              <a:rPr lang="en-IN" dirty="0"/>
              <a:t>Ends the messaging session.  </a:t>
            </a:r>
          </a:p>
          <a:p>
            <a:pPr lvl="0" fontAlgn="base"/>
            <a:r>
              <a:rPr lang="en-IN" b="1" dirty="0"/>
              <a:t>Close- </a:t>
            </a:r>
            <a:r>
              <a:rPr lang="en-IN" dirty="0"/>
              <a:t>Closes the connection fully. </a:t>
            </a:r>
          </a:p>
          <a:p>
            <a:pPr marL="0" indent="0">
              <a:buNone/>
            </a:pPr>
            <a:endParaRPr lang="en-IN" dirty="0"/>
          </a:p>
        </p:txBody>
      </p:sp>
      <p:sp>
        <p:nvSpPr>
          <p:cNvPr id="5" name="Footer Placeholder 4">
            <a:extLst>
              <a:ext uri="{FF2B5EF4-FFF2-40B4-BE49-F238E27FC236}">
                <a16:creationId xmlns:a16="http://schemas.microsoft.com/office/drawing/2014/main" id="{D2704832-8A10-7EDC-EB10-1C220517F95A}"/>
              </a:ext>
            </a:extLst>
          </p:cNvPr>
          <p:cNvSpPr>
            <a:spLocks noGrp="1"/>
          </p:cNvSpPr>
          <p:nvPr>
            <p:ph type="ftr" sz="quarter" idx="11"/>
          </p:nvPr>
        </p:nvSpPr>
        <p:spPr/>
        <p:txBody>
          <a:bodyPr/>
          <a:lstStyle/>
          <a:p>
            <a:r>
              <a:rPr lang="en-US" dirty="0">
                <a:solidFill>
                  <a:srgbClr val="FF0000"/>
                </a:solidFill>
              </a:rPr>
              <a:t>Faculty of Engineering and Technology</a:t>
            </a:r>
          </a:p>
        </p:txBody>
      </p:sp>
      <p:sp>
        <p:nvSpPr>
          <p:cNvPr id="7" name="Rectangle 6">
            <a:extLst>
              <a:ext uri="{FF2B5EF4-FFF2-40B4-BE49-F238E27FC236}">
                <a16:creationId xmlns:a16="http://schemas.microsoft.com/office/drawing/2014/main" id="{F3FECA49-911E-6C62-5F7A-8FC58B722FBD}"/>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logo of a tree and book&#10;&#10;Description automatically generated">
            <a:extLst>
              <a:ext uri="{FF2B5EF4-FFF2-40B4-BE49-F238E27FC236}">
                <a16:creationId xmlns:a16="http://schemas.microsoft.com/office/drawing/2014/main" id="{E17EF93F-4FEF-8BBD-3D88-E4662415EA6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3575264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32CF-B965-20A8-4DF5-02C1038388EF}"/>
              </a:ext>
            </a:extLst>
          </p:cNvPr>
          <p:cNvSpPr>
            <a:spLocks noGrp="1"/>
          </p:cNvSpPr>
          <p:nvPr>
            <p:ph type="title"/>
          </p:nvPr>
        </p:nvSpPr>
        <p:spPr>
          <a:xfrm>
            <a:off x="1809135" y="294968"/>
            <a:ext cx="9544665" cy="648930"/>
          </a:xfrm>
        </p:spPr>
        <p:txBody>
          <a:bodyPr>
            <a:normAutofit fontScale="90000"/>
          </a:bodyPr>
          <a:lstStyle/>
          <a:p>
            <a:r>
              <a:rPr lang="en-US" b="1" u="sng" dirty="0"/>
              <a:t>WORKING OF AMQP IN IoT</a:t>
            </a:r>
            <a:endParaRPr lang="en-IN" b="1" u="sng" dirty="0"/>
          </a:p>
        </p:txBody>
      </p:sp>
      <p:sp>
        <p:nvSpPr>
          <p:cNvPr id="3" name="Content Placeholder 2">
            <a:extLst>
              <a:ext uri="{FF2B5EF4-FFF2-40B4-BE49-F238E27FC236}">
                <a16:creationId xmlns:a16="http://schemas.microsoft.com/office/drawing/2014/main" id="{22BEC285-FD4A-84A5-38ED-5B5B00040216}"/>
              </a:ext>
            </a:extLst>
          </p:cNvPr>
          <p:cNvSpPr>
            <a:spLocks noGrp="1"/>
          </p:cNvSpPr>
          <p:nvPr>
            <p:ph idx="1"/>
          </p:nvPr>
        </p:nvSpPr>
        <p:spPr>
          <a:xfrm>
            <a:off x="838200" y="1300887"/>
            <a:ext cx="10515600" cy="4876076"/>
          </a:xfrm>
        </p:spPr>
        <p:txBody>
          <a:bodyPr>
            <a:normAutofit fontScale="62500" lnSpcReduction="20000"/>
          </a:bodyPr>
          <a:lstStyle/>
          <a:p>
            <a:pPr marL="0" indent="0">
              <a:buNone/>
            </a:pPr>
            <a:r>
              <a:rPr lang="en-IN" b="1" dirty="0"/>
              <a:t>1️⃣ IoT Device Sends Data (Producer)</a:t>
            </a:r>
          </a:p>
          <a:p>
            <a:r>
              <a:rPr lang="en-IN" dirty="0"/>
              <a:t>Sensor or device collects data</a:t>
            </a:r>
          </a:p>
          <a:p>
            <a:r>
              <a:rPr lang="en-IN" dirty="0"/>
              <a:t>Sends message to the </a:t>
            </a:r>
            <a:r>
              <a:rPr lang="en-IN" b="1" dirty="0"/>
              <a:t>AMQP Broker</a:t>
            </a:r>
            <a:endParaRPr lang="en-IN" dirty="0"/>
          </a:p>
          <a:p>
            <a:r>
              <a:rPr lang="en-IN" dirty="0"/>
              <a:t>Example: Temperature sensor → sends reading</a:t>
            </a:r>
          </a:p>
          <a:p>
            <a:pPr marL="0" indent="0">
              <a:buNone/>
            </a:pPr>
            <a:br>
              <a:rPr lang="en-IN" dirty="0"/>
            </a:br>
            <a:endParaRPr lang="en-IN" dirty="0"/>
          </a:p>
          <a:p>
            <a:pPr marL="0" indent="0">
              <a:buNone/>
            </a:pPr>
            <a:r>
              <a:rPr lang="en-IN" b="1" dirty="0"/>
              <a:t>2️⃣ Message Reaches the Broker</a:t>
            </a:r>
          </a:p>
          <a:p>
            <a:r>
              <a:rPr lang="en-IN" dirty="0"/>
              <a:t>Broker receives the message</a:t>
            </a:r>
          </a:p>
          <a:p>
            <a:r>
              <a:rPr lang="en-IN" dirty="0"/>
              <a:t>Verifies, stores, and prepares it for routing</a:t>
            </a:r>
          </a:p>
          <a:p>
            <a:r>
              <a:rPr lang="en-IN" dirty="0"/>
              <a:t>Examples of brokers: </a:t>
            </a:r>
            <a:r>
              <a:rPr lang="en-IN" b="1" dirty="0"/>
              <a:t>RabbitMQ, Azure IoT Hub, ActiveMQ</a:t>
            </a:r>
            <a:endParaRPr lang="en-IN" dirty="0"/>
          </a:p>
          <a:p>
            <a:pPr marL="0" indent="0">
              <a:buNone/>
            </a:pPr>
            <a:br>
              <a:rPr lang="en-IN" dirty="0"/>
            </a:br>
            <a:endParaRPr lang="en-IN" dirty="0"/>
          </a:p>
          <a:p>
            <a:pPr marL="0" indent="0">
              <a:buNone/>
            </a:pPr>
            <a:r>
              <a:rPr lang="en-IN" b="1" dirty="0"/>
              <a:t>3️⃣ Exchange Processes the Message</a:t>
            </a:r>
          </a:p>
          <a:p>
            <a:r>
              <a:rPr lang="en-IN" dirty="0"/>
              <a:t>Exchange decides </a:t>
            </a:r>
            <a:r>
              <a:rPr lang="en-IN" b="1" dirty="0"/>
              <a:t>how to route</a:t>
            </a:r>
            <a:r>
              <a:rPr lang="en-IN" dirty="0"/>
              <a:t> the message</a:t>
            </a:r>
          </a:p>
          <a:p>
            <a:r>
              <a:rPr lang="en-IN" dirty="0"/>
              <a:t>Uses routing keys and rules</a:t>
            </a:r>
          </a:p>
          <a:p>
            <a:r>
              <a:rPr lang="en-IN" dirty="0"/>
              <a:t>Exchange types: </a:t>
            </a:r>
            <a:r>
              <a:rPr lang="en-IN" b="1" dirty="0"/>
              <a:t>Direct, Topic, Fanout, Headers</a:t>
            </a:r>
            <a:endParaRPr lang="en-IN" dirty="0"/>
          </a:p>
          <a:p>
            <a:endParaRPr lang="en-IN" dirty="0"/>
          </a:p>
        </p:txBody>
      </p:sp>
      <p:sp>
        <p:nvSpPr>
          <p:cNvPr id="4" name="Date Placeholder 3">
            <a:extLst>
              <a:ext uri="{FF2B5EF4-FFF2-40B4-BE49-F238E27FC236}">
                <a16:creationId xmlns:a16="http://schemas.microsoft.com/office/drawing/2014/main" id="{C42BA529-05A6-5D7A-9A1C-5C7D881CFEBA}"/>
              </a:ext>
            </a:extLst>
          </p:cNvPr>
          <p:cNvSpPr>
            <a:spLocks noGrp="1"/>
          </p:cNvSpPr>
          <p:nvPr>
            <p:ph type="dt" sz="half" idx="10"/>
          </p:nvPr>
        </p:nvSpPr>
        <p:spPr/>
        <p:txBody>
          <a:bodyPr/>
          <a:lstStyle/>
          <a:p>
            <a:fld id="{CB3C4B40-50D9-48F5-8273-7DCE8C847A60}" type="datetime1">
              <a:rPr lang="en-IN" smtClean="0"/>
              <a:t>17-12-2025</a:t>
            </a:fld>
            <a:endParaRPr lang="en-US"/>
          </a:p>
        </p:txBody>
      </p:sp>
      <p:sp>
        <p:nvSpPr>
          <p:cNvPr id="5" name="Footer Placeholder 4">
            <a:extLst>
              <a:ext uri="{FF2B5EF4-FFF2-40B4-BE49-F238E27FC236}">
                <a16:creationId xmlns:a16="http://schemas.microsoft.com/office/drawing/2014/main" id="{024E77ED-810A-0B97-FECE-C62FE59D4A12}"/>
              </a:ext>
            </a:extLst>
          </p:cNvPr>
          <p:cNvSpPr>
            <a:spLocks noGrp="1"/>
          </p:cNvSpPr>
          <p:nvPr>
            <p:ph type="ftr" sz="quarter" idx="11"/>
          </p:nvPr>
        </p:nvSpPr>
        <p:spPr/>
        <p:txBody>
          <a:bodyPr/>
          <a:lstStyle/>
          <a:p>
            <a:r>
              <a:rPr lang="en-US"/>
              <a:t>Faculty of Engineering and Technology</a:t>
            </a:r>
          </a:p>
        </p:txBody>
      </p:sp>
      <p:sp>
        <p:nvSpPr>
          <p:cNvPr id="7" name="Rectangle 6">
            <a:extLst>
              <a:ext uri="{FF2B5EF4-FFF2-40B4-BE49-F238E27FC236}">
                <a16:creationId xmlns:a16="http://schemas.microsoft.com/office/drawing/2014/main" id="{0CCFCA47-26C0-9F94-2044-554D2591E361}"/>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logo of a tree and book&#10;&#10;Description automatically generated">
            <a:extLst>
              <a:ext uri="{FF2B5EF4-FFF2-40B4-BE49-F238E27FC236}">
                <a16:creationId xmlns:a16="http://schemas.microsoft.com/office/drawing/2014/main" id="{9BECF03D-863D-EDE3-F859-DA770D15908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791761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071211-F3DE-EDBF-BCAA-B2E68444FB2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7"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467833" y="6409833"/>
            <a:ext cx="11724168" cy="365125"/>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1600" dirty="0">
                <a:solidFill>
                  <a:srgbClr val="C00000"/>
                </a:solidFill>
                <a:latin typeface="+mj-lt"/>
                <a:ea typeface="Calibri" pitchFamily="34" charset="0"/>
                <a:cs typeface="Calibri" pitchFamily="34" charset="0"/>
              </a:rPr>
              <a:t>Faculty of Engineering and Technology</a:t>
            </a:r>
          </a:p>
          <a:p>
            <a:endParaRPr lang="en-US" sz="2000" b="1" dirty="0">
              <a:solidFill>
                <a:srgbClr val="C00000"/>
              </a:solidFill>
              <a:latin typeface="Calibri" pitchFamily="34" charset="0"/>
              <a:ea typeface="Calibri" pitchFamily="34" charset="0"/>
              <a:cs typeface="Calibri" pitchFamily="34" charset="0"/>
            </a:endParaRPr>
          </a:p>
        </p:txBody>
      </p:sp>
      <p:sp>
        <p:nvSpPr>
          <p:cNvPr id="3" name="TextBox 2">
            <a:extLst>
              <a:ext uri="{FF2B5EF4-FFF2-40B4-BE49-F238E27FC236}">
                <a16:creationId xmlns:a16="http://schemas.microsoft.com/office/drawing/2014/main" id="{FF568ED6-4742-8200-90A4-39A655F32151}"/>
              </a:ext>
            </a:extLst>
          </p:cNvPr>
          <p:cNvSpPr txBox="1"/>
          <p:nvPr/>
        </p:nvSpPr>
        <p:spPr>
          <a:xfrm>
            <a:off x="1229032" y="214552"/>
            <a:ext cx="9193162" cy="5909310"/>
          </a:xfrm>
          <a:prstGeom prst="rect">
            <a:avLst/>
          </a:prstGeom>
          <a:noFill/>
        </p:spPr>
        <p:txBody>
          <a:bodyPr wrap="square">
            <a:spAutoFit/>
          </a:bodyPr>
          <a:lstStyle/>
          <a:p>
            <a:pPr>
              <a:buNone/>
            </a:pPr>
            <a:r>
              <a:rPr lang="en-US" b="1" dirty="0"/>
              <a:t>4️⃣ Message Placed in the Correct Queue</a:t>
            </a:r>
          </a:p>
          <a:p>
            <a:pPr>
              <a:buFont typeface="Arial" panose="020B0604020202020204" pitchFamily="34" charset="0"/>
              <a:buChar char="•"/>
            </a:pPr>
            <a:r>
              <a:rPr lang="en-US" dirty="0"/>
              <a:t>Based on routing rules, the message is put into one or more queues</a:t>
            </a:r>
          </a:p>
          <a:p>
            <a:pPr>
              <a:buFont typeface="Arial" panose="020B0604020202020204" pitchFamily="34" charset="0"/>
              <a:buChar char="•"/>
            </a:pPr>
            <a:r>
              <a:rPr lang="en-US" dirty="0"/>
              <a:t>Queue temporarily stores message until a consumer fetches it</a:t>
            </a:r>
          </a:p>
          <a:p>
            <a:pPr>
              <a:buFont typeface="Arial" panose="020B0604020202020204" pitchFamily="34" charset="0"/>
              <a:buChar char="•"/>
            </a:pPr>
            <a:r>
              <a:rPr lang="en-US" dirty="0"/>
              <a:t>Ensures </a:t>
            </a:r>
            <a:r>
              <a:rPr lang="en-US" b="1" dirty="0"/>
              <a:t>no message loss</a:t>
            </a:r>
            <a:endParaRPr lang="en-US" dirty="0"/>
          </a:p>
          <a:p>
            <a:pPr>
              <a:buNone/>
            </a:pPr>
            <a:br>
              <a:rPr lang="en-US" dirty="0"/>
            </a:br>
            <a:endParaRPr lang="en-US" dirty="0"/>
          </a:p>
          <a:p>
            <a:pPr>
              <a:buNone/>
            </a:pPr>
            <a:r>
              <a:rPr lang="en-US" b="1" dirty="0"/>
              <a:t>5️⃣ Consumer Fetches the Message</a:t>
            </a:r>
          </a:p>
          <a:p>
            <a:pPr>
              <a:buFont typeface="Arial" panose="020B0604020202020204" pitchFamily="34" charset="0"/>
              <a:buChar char="•"/>
            </a:pPr>
            <a:r>
              <a:rPr lang="en-US" dirty="0"/>
              <a:t>Application, service, or analytics tool retrieves the message</a:t>
            </a:r>
          </a:p>
          <a:p>
            <a:pPr>
              <a:buFont typeface="Arial" panose="020B0604020202020204" pitchFamily="34" charset="0"/>
              <a:buChar char="•"/>
            </a:pPr>
            <a:r>
              <a:rPr lang="en-US" dirty="0"/>
              <a:t>For example: IoT dashboard displays data in real-time</a:t>
            </a:r>
          </a:p>
          <a:p>
            <a:pPr>
              <a:buNone/>
            </a:pPr>
            <a:br>
              <a:rPr lang="en-US" dirty="0"/>
            </a:br>
            <a:endParaRPr lang="en-US" dirty="0"/>
          </a:p>
          <a:p>
            <a:pPr>
              <a:buNone/>
            </a:pPr>
            <a:r>
              <a:rPr lang="en-US" b="1" dirty="0"/>
              <a:t>6️⃣ Acknowledgement Sent (ACK)</a:t>
            </a:r>
          </a:p>
          <a:p>
            <a:pPr>
              <a:buFont typeface="Arial" panose="020B0604020202020204" pitchFamily="34" charset="0"/>
              <a:buChar char="•"/>
            </a:pPr>
            <a:r>
              <a:rPr lang="en-US" dirty="0"/>
              <a:t>Consumer sends </a:t>
            </a:r>
            <a:r>
              <a:rPr lang="en-US" b="1" dirty="0"/>
              <a:t>ACK</a:t>
            </a:r>
            <a:r>
              <a:rPr lang="en-US" dirty="0"/>
              <a:t> to broker</a:t>
            </a:r>
          </a:p>
          <a:p>
            <a:pPr>
              <a:buFont typeface="Arial" panose="020B0604020202020204" pitchFamily="34" charset="0"/>
              <a:buChar char="•"/>
            </a:pPr>
            <a:r>
              <a:rPr lang="en-US" dirty="0"/>
              <a:t>Confirms message is received successfully</a:t>
            </a:r>
          </a:p>
          <a:p>
            <a:pPr>
              <a:buFont typeface="Arial" panose="020B0604020202020204" pitchFamily="34" charset="0"/>
              <a:buChar char="•"/>
            </a:pPr>
            <a:r>
              <a:rPr lang="en-US" dirty="0"/>
              <a:t>Broker safely removes the message from the queue</a:t>
            </a:r>
          </a:p>
          <a:p>
            <a:pPr>
              <a:buNone/>
            </a:pPr>
            <a:br>
              <a:rPr lang="en-US" dirty="0"/>
            </a:br>
            <a:endParaRPr lang="en-US" dirty="0"/>
          </a:p>
          <a:p>
            <a:pPr>
              <a:buNone/>
            </a:pPr>
            <a:r>
              <a:rPr lang="en-US" b="1" dirty="0"/>
              <a:t>7️⃣ Reliable &amp; Ordered Delivery</a:t>
            </a:r>
          </a:p>
          <a:p>
            <a:pPr>
              <a:buFont typeface="Arial" panose="020B0604020202020204" pitchFamily="34" charset="0"/>
              <a:buChar char="•"/>
            </a:pPr>
            <a:r>
              <a:rPr lang="en-US" dirty="0"/>
              <a:t>If device or network fails, AMQP resends the message</a:t>
            </a:r>
          </a:p>
          <a:p>
            <a:pPr>
              <a:buFont typeface="Arial" panose="020B0604020202020204" pitchFamily="34" charset="0"/>
              <a:buChar char="•"/>
            </a:pPr>
            <a:r>
              <a:rPr lang="en-US" dirty="0"/>
              <a:t>Maintains </a:t>
            </a:r>
            <a:r>
              <a:rPr lang="en-US" b="1" dirty="0"/>
              <a:t>order</a:t>
            </a:r>
            <a:r>
              <a:rPr lang="en-US" dirty="0"/>
              <a:t> of messages</a:t>
            </a:r>
          </a:p>
          <a:p>
            <a:pPr>
              <a:buFont typeface="Arial" panose="020B0604020202020204" pitchFamily="34" charset="0"/>
              <a:buChar char="•"/>
            </a:pPr>
            <a:r>
              <a:rPr lang="en-US" dirty="0"/>
              <a:t>Guarantees </a:t>
            </a:r>
            <a:r>
              <a:rPr lang="en-US" b="1" dirty="0"/>
              <a:t>exactly-once</a:t>
            </a:r>
            <a:r>
              <a:rPr lang="en-US" dirty="0"/>
              <a:t> or </a:t>
            </a:r>
            <a:r>
              <a:rPr lang="en-US" b="1" dirty="0"/>
              <a:t>at-least-once</a:t>
            </a:r>
            <a:r>
              <a:rPr lang="en-US" dirty="0"/>
              <a:t> delivery</a:t>
            </a:r>
          </a:p>
        </p:txBody>
      </p:sp>
      <p:pic>
        <p:nvPicPr>
          <p:cNvPr id="2" name="Picture 1" descr="A logo of a tree and book&#10;&#10;Description automatically generated">
            <a:extLst>
              <a:ext uri="{FF2B5EF4-FFF2-40B4-BE49-F238E27FC236}">
                <a16:creationId xmlns:a16="http://schemas.microsoft.com/office/drawing/2014/main" id="{6EFDFA4A-E902-AD27-665E-A318C5C2B26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2234771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77F2D0-8C6D-CBE0-FB76-CD44FBBC5360}"/>
              </a:ext>
            </a:extLst>
          </p:cNvPr>
          <p:cNvSpPr>
            <a:spLocks noGrp="1"/>
          </p:cNvSpPr>
          <p:nvPr>
            <p:ph type="ftr" sz="quarter" idx="11"/>
          </p:nvPr>
        </p:nvSpPr>
        <p:spPr/>
        <p:txBody>
          <a:bodyPr/>
          <a:lstStyle/>
          <a:p>
            <a:r>
              <a:rPr lang="en-US" dirty="0">
                <a:solidFill>
                  <a:srgbClr val="FF0000"/>
                </a:solidFill>
              </a:rPr>
              <a:t>Faculty of Engineering and Technology</a:t>
            </a:r>
          </a:p>
        </p:txBody>
      </p:sp>
      <p:sp>
        <p:nvSpPr>
          <p:cNvPr id="7" name="AutoShape 2" descr="Generated image">
            <a:extLst>
              <a:ext uri="{FF2B5EF4-FFF2-40B4-BE49-F238E27FC236}">
                <a16:creationId xmlns:a16="http://schemas.microsoft.com/office/drawing/2014/main" id="{CD52A42E-77EA-0BDC-52DA-37DD1B71A8F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descr="A logo of a tree and book&#10;&#10;Description automatically generated">
            <a:extLst>
              <a:ext uri="{FF2B5EF4-FFF2-40B4-BE49-F238E27FC236}">
                <a16:creationId xmlns:a16="http://schemas.microsoft.com/office/drawing/2014/main" id="{A3024AEA-3A65-B6FA-7C24-7E3FD55C720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14" name="Rectangle 13">
            <a:extLst>
              <a:ext uri="{FF2B5EF4-FFF2-40B4-BE49-F238E27FC236}">
                <a16:creationId xmlns:a16="http://schemas.microsoft.com/office/drawing/2014/main" id="{3DBF513B-D267-8B42-BD14-0751103381B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a:extLst>
              <a:ext uri="{FF2B5EF4-FFF2-40B4-BE49-F238E27FC236}">
                <a16:creationId xmlns:a16="http://schemas.microsoft.com/office/drawing/2014/main" id="{82717BF5-00D0-8D0E-B7BB-495AD8F39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1316" y="791297"/>
            <a:ext cx="8691715" cy="5275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857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3F945-D3AE-58CE-8132-C18F72B259B9}"/>
              </a:ext>
            </a:extLst>
          </p:cNvPr>
          <p:cNvSpPr>
            <a:spLocks noGrp="1"/>
          </p:cNvSpPr>
          <p:nvPr>
            <p:ph type="title"/>
          </p:nvPr>
        </p:nvSpPr>
        <p:spPr>
          <a:xfrm>
            <a:off x="3362632" y="-255639"/>
            <a:ext cx="7991167" cy="1946327"/>
          </a:xfrm>
        </p:spPr>
        <p:txBody>
          <a:bodyPr>
            <a:normAutofit/>
          </a:bodyPr>
          <a:lstStyle/>
          <a:p>
            <a:r>
              <a:rPr lang="en-US" sz="3600" b="1" u="sng" dirty="0"/>
              <a:t>LITERATURE SURVEY</a:t>
            </a:r>
            <a:endParaRPr lang="en-IN" sz="3600" b="1" u="sng" dirty="0"/>
          </a:p>
        </p:txBody>
      </p:sp>
      <p:sp>
        <p:nvSpPr>
          <p:cNvPr id="3" name="Content Placeholder 2">
            <a:extLst>
              <a:ext uri="{FF2B5EF4-FFF2-40B4-BE49-F238E27FC236}">
                <a16:creationId xmlns:a16="http://schemas.microsoft.com/office/drawing/2014/main" id="{A1A7D525-F329-8C2A-463F-9B4322FCB02F}"/>
              </a:ext>
            </a:extLst>
          </p:cNvPr>
          <p:cNvSpPr>
            <a:spLocks noGrp="1"/>
          </p:cNvSpPr>
          <p:nvPr>
            <p:ph idx="1"/>
          </p:nvPr>
        </p:nvSpPr>
        <p:spPr>
          <a:xfrm>
            <a:off x="648929" y="1602658"/>
            <a:ext cx="10704871" cy="4574305"/>
          </a:xfrm>
        </p:spPr>
        <p:txBody>
          <a:bodyPr>
            <a:normAutofit fontScale="92500" lnSpcReduction="20000"/>
          </a:bodyPr>
          <a:lstStyle/>
          <a:p>
            <a:pPr marL="0" indent="0">
              <a:buNone/>
            </a:pPr>
            <a:r>
              <a:rPr lang="en-US" sz="2600" dirty="0"/>
              <a:t>1️⃣ </a:t>
            </a:r>
            <a:r>
              <a:rPr lang="en-US" sz="2600" b="1" dirty="0"/>
              <a:t>Previous research on IoT messaging protocols</a:t>
            </a:r>
            <a:r>
              <a:rPr lang="en-US" sz="2600" dirty="0"/>
              <a:t> shows that AMQP provides strong reliability and message ordering, making it suitable for applications where accurate data transfer is critical (Author studies: IoT communication models, 2016–2020).</a:t>
            </a:r>
          </a:p>
          <a:p>
            <a:pPr marL="0" indent="0">
              <a:buNone/>
            </a:pPr>
            <a:endParaRPr lang="en-US" sz="2600" dirty="0"/>
          </a:p>
          <a:p>
            <a:pPr marL="0" indent="0">
              <a:buNone/>
            </a:pPr>
            <a:r>
              <a:rPr lang="en-US" sz="2600" dirty="0"/>
              <a:t>2️⃣ </a:t>
            </a:r>
            <a:r>
              <a:rPr lang="en-US" sz="2600" b="1" dirty="0"/>
              <a:t>Studies comparing AMQP with MQTT, CoAP, and XMPP</a:t>
            </a:r>
            <a:r>
              <a:rPr lang="en-US" sz="2600" dirty="0"/>
              <a:t> highlight that AMQP performs better in cloud-connected IoT systems due to its broker-based architecture, routing mechanisms, and secure message handling (Protocol evaluation research, IEEE papers).</a:t>
            </a:r>
          </a:p>
          <a:p>
            <a:pPr marL="0" indent="0">
              <a:buNone/>
            </a:pPr>
            <a:endParaRPr lang="en-US" sz="2600" dirty="0"/>
          </a:p>
          <a:p>
            <a:pPr marL="0" indent="0">
              <a:buNone/>
            </a:pPr>
            <a:r>
              <a:rPr lang="en-US" sz="2600" dirty="0"/>
              <a:t>3️⃣ </a:t>
            </a:r>
            <a:r>
              <a:rPr lang="en-US" sz="2600" b="1" dirty="0"/>
              <a:t>Research on RabbitMQ and ActiveMQ implementations</a:t>
            </a:r>
            <a:r>
              <a:rPr lang="en-US" sz="2600" dirty="0"/>
              <a:t> demonstrates that AMQP-based brokers can handle high message throughput, support clustering, and maintain stability under heavy IoT workloads, proving their suitability for industrial and smart city deployments (Performance analysis studies, 2018–2023).</a:t>
            </a:r>
          </a:p>
          <a:p>
            <a:endParaRPr lang="en-IN" dirty="0"/>
          </a:p>
        </p:txBody>
      </p:sp>
      <p:sp>
        <p:nvSpPr>
          <p:cNvPr id="5" name="Footer Placeholder 4">
            <a:extLst>
              <a:ext uri="{FF2B5EF4-FFF2-40B4-BE49-F238E27FC236}">
                <a16:creationId xmlns:a16="http://schemas.microsoft.com/office/drawing/2014/main" id="{2385E2F6-A337-7922-D569-4E41BEB89BD0}"/>
              </a:ext>
            </a:extLst>
          </p:cNvPr>
          <p:cNvSpPr>
            <a:spLocks noGrp="1"/>
          </p:cNvSpPr>
          <p:nvPr>
            <p:ph type="ftr" sz="quarter" idx="11"/>
          </p:nvPr>
        </p:nvSpPr>
        <p:spPr/>
        <p:txBody>
          <a:bodyPr/>
          <a:lstStyle/>
          <a:p>
            <a:r>
              <a:rPr lang="en-US" dirty="0">
                <a:solidFill>
                  <a:srgbClr val="FF0000"/>
                </a:solidFill>
              </a:rPr>
              <a:t>Faculty of Engineering and Technology</a:t>
            </a:r>
          </a:p>
        </p:txBody>
      </p:sp>
      <p:sp>
        <p:nvSpPr>
          <p:cNvPr id="4" name="Rectangle 3">
            <a:extLst>
              <a:ext uri="{FF2B5EF4-FFF2-40B4-BE49-F238E27FC236}">
                <a16:creationId xmlns:a16="http://schemas.microsoft.com/office/drawing/2014/main" id="{8E0F80A4-08F0-DFE1-1A2A-FDC68F932409}"/>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79CDF6F2-B56E-83AB-AE36-B10CE2D2C5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99640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071211-F3DE-EDBF-BCAA-B2E68444FB2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7"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467833" y="6409833"/>
            <a:ext cx="11724168" cy="365125"/>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1600" dirty="0">
                <a:solidFill>
                  <a:srgbClr val="FF0000"/>
                </a:solidFill>
                <a:latin typeface="+mj-lt"/>
                <a:ea typeface="Calibri" pitchFamily="34" charset="0"/>
                <a:cs typeface="Calibri" pitchFamily="34" charset="0"/>
              </a:rPr>
              <a:t>Faculty of Engineering and Technology</a:t>
            </a:r>
          </a:p>
          <a:p>
            <a:endParaRPr lang="en-US" sz="2000" b="1" dirty="0">
              <a:solidFill>
                <a:srgbClr val="C00000"/>
              </a:solidFill>
              <a:latin typeface="Calibri" pitchFamily="34" charset="0"/>
              <a:ea typeface="Calibri" pitchFamily="34" charset="0"/>
              <a:cs typeface="Calibri" pitchFamily="34" charset="0"/>
            </a:endParaRPr>
          </a:p>
        </p:txBody>
      </p:sp>
      <p:sp>
        <p:nvSpPr>
          <p:cNvPr id="3" name="TextBox 2">
            <a:extLst>
              <a:ext uri="{FF2B5EF4-FFF2-40B4-BE49-F238E27FC236}">
                <a16:creationId xmlns:a16="http://schemas.microsoft.com/office/drawing/2014/main" id="{0B8AE3AA-7A4D-C28F-003E-D82E535DD5A2}"/>
              </a:ext>
            </a:extLst>
          </p:cNvPr>
          <p:cNvSpPr txBox="1"/>
          <p:nvPr/>
        </p:nvSpPr>
        <p:spPr>
          <a:xfrm>
            <a:off x="936473" y="432619"/>
            <a:ext cx="10032781" cy="6063198"/>
          </a:xfrm>
          <a:prstGeom prst="rect">
            <a:avLst/>
          </a:prstGeom>
          <a:noFill/>
        </p:spPr>
        <p:txBody>
          <a:bodyPr wrap="square">
            <a:spAutoFit/>
          </a:bodyPr>
          <a:lstStyle/>
          <a:p>
            <a:pPr>
              <a:buNone/>
            </a:pPr>
            <a:br>
              <a:rPr lang="en-IN" sz="2400" dirty="0"/>
            </a:br>
            <a:r>
              <a:rPr lang="en-IN" sz="2800" b="1" u="sng" dirty="0"/>
              <a:t>ADVANTAGES OF AMQP</a:t>
            </a:r>
          </a:p>
          <a:p>
            <a:pPr>
              <a:buNone/>
            </a:pPr>
            <a:endParaRPr lang="en-IN" sz="2400" dirty="0"/>
          </a:p>
          <a:p>
            <a:r>
              <a:rPr lang="en-IN" dirty="0"/>
              <a:t>1️⃣ Guaranteed message delivery</a:t>
            </a:r>
            <a:br>
              <a:rPr lang="en-IN" dirty="0"/>
            </a:br>
            <a:r>
              <a:rPr lang="en-IN" dirty="0"/>
              <a:t>2️⃣ Advanced routing options</a:t>
            </a:r>
            <a:br>
              <a:rPr lang="en-IN" dirty="0"/>
            </a:br>
            <a:r>
              <a:rPr lang="en-IN" dirty="0"/>
              <a:t>3️⃣ High security</a:t>
            </a:r>
            <a:br>
              <a:rPr lang="en-IN" dirty="0"/>
            </a:br>
            <a:r>
              <a:rPr lang="en-IN" dirty="0"/>
              <a:t>4️⃣ Cross-platform interoperability</a:t>
            </a:r>
            <a:br>
              <a:rPr lang="en-IN" dirty="0"/>
            </a:br>
            <a:r>
              <a:rPr lang="en-IN" dirty="0"/>
              <a:t>5️⃣ Highly scalable</a:t>
            </a:r>
            <a:br>
              <a:rPr lang="en-IN" dirty="0"/>
            </a:br>
            <a:r>
              <a:rPr lang="en-IN" dirty="0"/>
              <a:t>6️⃣ Supports asynchronous communication</a:t>
            </a:r>
          </a:p>
          <a:p>
            <a:endParaRPr lang="en-IN" dirty="0"/>
          </a:p>
          <a:p>
            <a:r>
              <a:rPr lang="en-IN" sz="2400" b="1" u="sng" dirty="0"/>
              <a:t>DISADVANTAGES OF AMQP</a:t>
            </a:r>
          </a:p>
          <a:p>
            <a:endParaRPr lang="en-IN" dirty="0"/>
          </a:p>
          <a:p>
            <a:r>
              <a:rPr lang="en-IN" dirty="0"/>
              <a:t>1️⃣ Complex setup</a:t>
            </a:r>
            <a:br>
              <a:rPr lang="en-IN" dirty="0"/>
            </a:br>
            <a:r>
              <a:rPr lang="en-IN" dirty="0"/>
              <a:t>2️⃣ High resource usage</a:t>
            </a:r>
            <a:br>
              <a:rPr lang="en-IN" dirty="0"/>
            </a:br>
            <a:r>
              <a:rPr lang="en-IN" dirty="0"/>
              <a:t>3️⃣ Not suitable for low-power devices</a:t>
            </a:r>
            <a:br>
              <a:rPr lang="en-IN" dirty="0"/>
            </a:br>
            <a:r>
              <a:rPr lang="en-IN" dirty="0"/>
              <a:t>4️⃣ Requires stable network</a:t>
            </a:r>
            <a:br>
              <a:rPr lang="en-IN" dirty="0"/>
            </a:br>
            <a:r>
              <a:rPr lang="en-IN" dirty="0"/>
              <a:t>5️⃣ Broker dependency</a:t>
            </a:r>
            <a:br>
              <a:rPr lang="en-IN" dirty="0"/>
            </a:br>
            <a:r>
              <a:rPr lang="en-IN" dirty="0"/>
              <a:t>6️⃣ Higher overhead than MQTT</a:t>
            </a:r>
          </a:p>
          <a:p>
            <a:endParaRPr lang="en-IN" dirty="0"/>
          </a:p>
          <a:p>
            <a:pPr>
              <a:buNone/>
            </a:pPr>
            <a:endParaRPr lang="en-IN" dirty="0"/>
          </a:p>
        </p:txBody>
      </p:sp>
      <p:pic>
        <p:nvPicPr>
          <p:cNvPr id="2" name="Picture 1" descr="A logo of a tree and book&#10;&#10;Description automatically generated">
            <a:extLst>
              <a:ext uri="{FF2B5EF4-FFF2-40B4-BE49-F238E27FC236}">
                <a16:creationId xmlns:a16="http://schemas.microsoft.com/office/drawing/2014/main" id="{5F4A4BCA-197B-7FBD-873C-4326BFF9906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2424791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071211-F3DE-EDBF-BCAA-B2E68444FB2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2379406" y="-43589"/>
            <a:ext cx="12123171" cy="861774"/>
          </a:xfrm>
          <a:prstGeom prst="rect">
            <a:avLst/>
          </a:prstGeom>
        </p:spPr>
        <p:txBody>
          <a:bodyPr wrap="square">
            <a:spAutoFit/>
          </a:bodyPr>
          <a:lstStyle/>
          <a:p>
            <a:endParaRPr lang="en-US" dirty="0"/>
          </a:p>
          <a:p>
            <a:r>
              <a:rPr lang="en-US" sz="3200" b="1" u="sng" dirty="0"/>
              <a:t>APPLICATIONS OF AMQP IN IoT</a:t>
            </a:r>
          </a:p>
        </p:txBody>
      </p:sp>
      <p:sp>
        <p:nvSpPr>
          <p:cNvPr id="17"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467833" y="6409833"/>
            <a:ext cx="11724168" cy="365125"/>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1600" dirty="0">
                <a:solidFill>
                  <a:srgbClr val="C00000"/>
                </a:solidFill>
                <a:latin typeface="+mj-lt"/>
                <a:ea typeface="Calibri" pitchFamily="34" charset="0"/>
                <a:cs typeface="Calibri" pitchFamily="34" charset="0"/>
              </a:rPr>
              <a:t>Faculty of Engineering and Technology</a:t>
            </a:r>
          </a:p>
          <a:p>
            <a:endParaRPr lang="en-US" sz="2000" b="1" dirty="0">
              <a:solidFill>
                <a:srgbClr val="C00000"/>
              </a:solidFill>
              <a:latin typeface="Calibri" pitchFamily="34" charset="0"/>
              <a:ea typeface="Calibri" pitchFamily="34" charset="0"/>
              <a:cs typeface="Calibri" pitchFamily="34" charset="0"/>
            </a:endParaRPr>
          </a:p>
        </p:txBody>
      </p:sp>
      <p:sp>
        <p:nvSpPr>
          <p:cNvPr id="3" name="TextBox 2">
            <a:extLst>
              <a:ext uri="{FF2B5EF4-FFF2-40B4-BE49-F238E27FC236}">
                <a16:creationId xmlns:a16="http://schemas.microsoft.com/office/drawing/2014/main" id="{FC423C18-5B6B-9239-4C83-6385E4F8A78B}"/>
              </a:ext>
            </a:extLst>
          </p:cNvPr>
          <p:cNvSpPr txBox="1"/>
          <p:nvPr/>
        </p:nvSpPr>
        <p:spPr>
          <a:xfrm>
            <a:off x="1376515" y="1730477"/>
            <a:ext cx="8927691" cy="3785652"/>
          </a:xfrm>
          <a:prstGeom prst="rect">
            <a:avLst/>
          </a:prstGeom>
          <a:noFill/>
        </p:spPr>
        <p:txBody>
          <a:bodyPr wrap="square">
            <a:spAutoFit/>
          </a:bodyPr>
          <a:lstStyle/>
          <a:p>
            <a:pPr>
              <a:buNone/>
            </a:pPr>
            <a:r>
              <a:rPr lang="en-US" sz="2400" b="1" dirty="0"/>
              <a:t>1️⃣ Industrial IoT Monitoring</a:t>
            </a:r>
          </a:p>
          <a:p>
            <a:pPr>
              <a:buFont typeface="Arial" panose="020B0604020202020204" pitchFamily="34" charset="0"/>
              <a:buChar char="•"/>
            </a:pPr>
            <a:r>
              <a:rPr lang="en-US" sz="2400" dirty="0"/>
              <a:t>Machines send real-time status and fault alerts to the AMQP broker.</a:t>
            </a:r>
          </a:p>
          <a:p>
            <a:pPr>
              <a:buFont typeface="Arial" panose="020B0604020202020204" pitchFamily="34" charset="0"/>
              <a:buChar char="•"/>
            </a:pPr>
            <a:r>
              <a:rPr lang="en-US" sz="2400" dirty="0"/>
              <a:t>Helps factories monitor equipment, predict failures, and take quick action.</a:t>
            </a:r>
          </a:p>
          <a:p>
            <a:endParaRPr lang="en-US" sz="2400" dirty="0"/>
          </a:p>
          <a:p>
            <a:pPr>
              <a:buNone/>
            </a:pPr>
            <a:r>
              <a:rPr lang="en-US" sz="2400" b="1" dirty="0"/>
              <a:t>2️⃣ Smart City Traffic Management</a:t>
            </a:r>
          </a:p>
          <a:p>
            <a:pPr>
              <a:buFont typeface="Arial" panose="020B0604020202020204" pitchFamily="34" charset="0"/>
              <a:buChar char="•"/>
            </a:pPr>
            <a:r>
              <a:rPr lang="en-US" sz="2400" dirty="0"/>
              <a:t>Traffic sensors send vehicle count and signal data via AMQP.</a:t>
            </a:r>
          </a:p>
          <a:p>
            <a:pPr>
              <a:buFont typeface="Arial" panose="020B0604020202020204" pitchFamily="34" charset="0"/>
              <a:buChar char="•"/>
            </a:pPr>
            <a:r>
              <a:rPr lang="en-US" sz="2400" dirty="0"/>
              <a:t>The system routes this data to control centers to manage signals and reduce traffic congest</a:t>
            </a:r>
          </a:p>
        </p:txBody>
      </p:sp>
      <p:pic>
        <p:nvPicPr>
          <p:cNvPr id="2" name="Picture 1" descr="A logo of a tree and book&#10;&#10;Description automatically generated">
            <a:extLst>
              <a:ext uri="{FF2B5EF4-FFF2-40B4-BE49-F238E27FC236}">
                <a16:creationId xmlns:a16="http://schemas.microsoft.com/office/drawing/2014/main" id="{E65CDBEB-EE59-D7EF-B274-775756DAAC9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2613359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071211-F3DE-EDBF-BCAA-B2E68444FB24}"/>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7"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509166" y="6177674"/>
            <a:ext cx="11724167" cy="501650"/>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1800" dirty="0">
                <a:solidFill>
                  <a:srgbClr val="C00000"/>
                </a:solidFill>
                <a:latin typeface="Calibri" pitchFamily="34" charset="0"/>
                <a:ea typeface="Calibri" pitchFamily="34" charset="0"/>
                <a:cs typeface="Calibri" pitchFamily="34" charset="0"/>
              </a:rPr>
              <a:t>Faculty of Engineering and Technology</a:t>
            </a:r>
          </a:p>
          <a:p>
            <a:endParaRPr lang="en-US" sz="2000" b="1" dirty="0">
              <a:solidFill>
                <a:srgbClr val="C00000"/>
              </a:solidFill>
              <a:latin typeface="Calibri" pitchFamily="34" charset="0"/>
              <a:ea typeface="Calibri" pitchFamily="34" charset="0"/>
              <a:cs typeface="Calibri" pitchFamily="34" charset="0"/>
            </a:endParaRPr>
          </a:p>
        </p:txBody>
      </p:sp>
      <p:sp>
        <p:nvSpPr>
          <p:cNvPr id="3" name="TextBox 2">
            <a:extLst>
              <a:ext uri="{FF2B5EF4-FFF2-40B4-BE49-F238E27FC236}">
                <a16:creationId xmlns:a16="http://schemas.microsoft.com/office/drawing/2014/main" id="{8844FBFE-275B-80AB-B9AE-4771AECD8C1C}"/>
              </a:ext>
            </a:extLst>
          </p:cNvPr>
          <p:cNvSpPr txBox="1"/>
          <p:nvPr/>
        </p:nvSpPr>
        <p:spPr>
          <a:xfrm>
            <a:off x="884903" y="432620"/>
            <a:ext cx="10196052" cy="5447645"/>
          </a:xfrm>
          <a:prstGeom prst="rect">
            <a:avLst/>
          </a:prstGeom>
          <a:noFill/>
        </p:spPr>
        <p:txBody>
          <a:bodyPr wrap="square">
            <a:spAutoFit/>
          </a:bodyPr>
          <a:lstStyle/>
          <a:p>
            <a:pPr>
              <a:buNone/>
            </a:pPr>
            <a:r>
              <a:rPr lang="en-US" sz="2400" b="1" dirty="0"/>
              <a:t>                                                 </a:t>
            </a:r>
            <a:r>
              <a:rPr lang="en-US" sz="3600" b="1" u="sng" dirty="0"/>
              <a:t>CONCLUSION</a:t>
            </a:r>
          </a:p>
          <a:p>
            <a:pPr>
              <a:buNone/>
            </a:pPr>
            <a:endParaRPr lang="en-US" sz="2400" b="1" dirty="0"/>
          </a:p>
          <a:p>
            <a:pPr>
              <a:buNone/>
            </a:pPr>
            <a:endParaRPr lang="en-US" sz="2400" b="1" dirty="0"/>
          </a:p>
          <a:p>
            <a:pPr>
              <a:buNone/>
            </a:pPr>
            <a:r>
              <a:rPr lang="en-US" sz="2400" dirty="0"/>
              <a:t>AMQP is a powerful and reliable messaging protocol that ensures secure, ordered, and guaranteed delivery of IoT data. Its advanced routing, interoperability, and scalability make it ideal for large and complex IoT systems. Although it requires more setup and resources, AMQP provides a strong communication backbone for industrial IoT, smart cities, cloud platforms, and real-time monitoring applications.</a:t>
            </a:r>
          </a:p>
          <a:p>
            <a:pPr>
              <a:buNone/>
            </a:pPr>
            <a:br>
              <a:rPr lang="en-US" sz="2400" dirty="0"/>
            </a:br>
            <a:r>
              <a:rPr lang="en-US" sz="2400" dirty="0"/>
              <a:t>Overall, AMQP strengthens communication between devices and cloud services, improving system efficiency and decision-making.</a:t>
            </a:r>
            <a:br>
              <a:rPr lang="en-US" sz="2400" dirty="0"/>
            </a:br>
            <a:r>
              <a:rPr lang="en-US" sz="2400" dirty="0"/>
              <a:t>It continues to be a preferred choice for organizations that need dependable, structured, and intelligent IoT communication.</a:t>
            </a:r>
          </a:p>
        </p:txBody>
      </p:sp>
      <p:pic>
        <p:nvPicPr>
          <p:cNvPr id="2" name="Picture 1" descr="A logo of a tree and book&#10;&#10;Description automatically generated">
            <a:extLst>
              <a:ext uri="{FF2B5EF4-FFF2-40B4-BE49-F238E27FC236}">
                <a16:creationId xmlns:a16="http://schemas.microsoft.com/office/drawing/2014/main" id="{3FDD45E5-799C-0576-027E-E628951C962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Tree>
    <p:extLst>
      <p:ext uri="{BB962C8B-B14F-4D97-AF65-F5344CB8AC3E}">
        <p14:creationId xmlns:p14="http://schemas.microsoft.com/office/powerpoint/2010/main" val="3419801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EA82F2-8B8A-B20D-30BD-34F23E857104}"/>
              </a:ext>
            </a:extLst>
          </p:cNvPr>
          <p:cNvSpPr/>
          <p:nvPr/>
        </p:nvSpPr>
        <p:spPr>
          <a:xfrm rot="5400000">
            <a:off x="-3195486" y="3194681"/>
            <a:ext cx="6858000" cy="468638"/>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C82C8E4-59C5-D3B7-7B0B-CDAC70F86E44}"/>
              </a:ext>
            </a:extLst>
          </p:cNvPr>
          <p:cNvSpPr/>
          <p:nvPr/>
        </p:nvSpPr>
        <p:spPr>
          <a:xfrm>
            <a:off x="467833" y="3429000"/>
            <a:ext cx="11724167" cy="830997"/>
          </a:xfrm>
          <a:prstGeom prst="rect">
            <a:avLst/>
          </a:prstGeom>
          <a:solidFill>
            <a:srgbClr val="632523"/>
          </a:solidFill>
          <a:ln>
            <a:solidFill>
              <a:srgbClr val="63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49EBDCD-3A0F-E37C-BF25-B02B9EDFC582}"/>
              </a:ext>
            </a:extLst>
          </p:cNvPr>
          <p:cNvSpPr txBox="1"/>
          <p:nvPr/>
        </p:nvSpPr>
        <p:spPr>
          <a:xfrm>
            <a:off x="3518637" y="3429000"/>
            <a:ext cx="5622557" cy="830997"/>
          </a:xfrm>
          <a:prstGeom prst="rect">
            <a:avLst/>
          </a:prstGeom>
          <a:noFill/>
        </p:spPr>
        <p:txBody>
          <a:bodyPr wrap="square">
            <a:spAutoFit/>
          </a:bodyPr>
          <a:lstStyle/>
          <a:p>
            <a:pPr algn="ctr"/>
            <a:r>
              <a:rPr lang="en-US" sz="4800" dirty="0">
                <a:solidFill>
                  <a:srgbClr val="CA9749"/>
                </a:solidFill>
                <a:latin typeface="Cavolini" panose="020B0502040204020203" pitchFamily="66" charset="0"/>
                <a:cs typeface="Cavolini" panose="020B0502040204020203" pitchFamily="66" charset="0"/>
              </a:rPr>
              <a:t>Thank you all</a:t>
            </a:r>
          </a:p>
        </p:txBody>
      </p:sp>
      <p:sp>
        <p:nvSpPr>
          <p:cNvPr id="13" name="Right Triangle 12">
            <a:extLst>
              <a:ext uri="{FF2B5EF4-FFF2-40B4-BE49-F238E27FC236}">
                <a16:creationId xmlns:a16="http://schemas.microsoft.com/office/drawing/2014/main" id="{E108C9DB-4187-BFBE-8680-8963F0071133}"/>
              </a:ext>
            </a:extLst>
          </p:cNvPr>
          <p:cNvSpPr/>
          <p:nvPr/>
        </p:nvSpPr>
        <p:spPr>
          <a:xfrm rot="10800000">
            <a:off x="9813850"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logo of a tree and book&#10;&#10;Description automatically generated">
            <a:extLst>
              <a:ext uri="{FF2B5EF4-FFF2-40B4-BE49-F238E27FC236}">
                <a16:creationId xmlns:a16="http://schemas.microsoft.com/office/drawing/2014/main" id="{1FCCCB89-D7D1-B0FE-7E4F-DDF4906F921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5"/>
            <a:ext cx="1222744" cy="1095155"/>
          </a:xfrm>
          <a:prstGeom prst="rect">
            <a:avLst/>
          </a:prstGeom>
        </p:spPr>
      </p:pic>
      <p:sp>
        <p:nvSpPr>
          <p:cNvPr id="11" name="Date Placeholder 15">
            <a:extLst>
              <a:ext uri="{FF2B5EF4-FFF2-40B4-BE49-F238E27FC236}">
                <a16:creationId xmlns:a16="http://schemas.microsoft.com/office/drawing/2014/main" id="{AF4ECAC3-1547-7007-4419-D3F6A5BD4947}"/>
              </a:ext>
            </a:extLst>
          </p:cNvPr>
          <p:cNvSpPr>
            <a:spLocks noGrp="1"/>
          </p:cNvSpPr>
          <p:nvPr>
            <p:ph type="dt" sz="half" idx="10"/>
          </p:nvPr>
        </p:nvSpPr>
        <p:spPr>
          <a:xfrm>
            <a:off x="537091" y="6147505"/>
            <a:ext cx="11724168" cy="365125"/>
          </a:xfrm>
        </p:spPr>
        <p:txBody>
          <a:bodyPr/>
          <a:lstStyle/>
          <a:p>
            <a:endParaRPr lang="en-US" sz="2000" b="1" dirty="0">
              <a:solidFill>
                <a:srgbClr val="CA9749"/>
              </a:solidFill>
              <a:latin typeface="Calibri" pitchFamily="34" charset="0"/>
              <a:ea typeface="Calibri" pitchFamily="34" charset="0"/>
              <a:cs typeface="Calibri" pitchFamily="34" charset="0"/>
            </a:endParaRPr>
          </a:p>
          <a:p>
            <a:pPr algn="ctr"/>
            <a:r>
              <a:rPr lang="en-US" sz="2400" b="1" dirty="0">
                <a:solidFill>
                  <a:srgbClr val="C00000"/>
                </a:solidFill>
                <a:latin typeface="Calibri" pitchFamily="34" charset="0"/>
                <a:ea typeface="Calibri" pitchFamily="34" charset="0"/>
                <a:cs typeface="Calibri" pitchFamily="34" charset="0"/>
              </a:rPr>
              <a:t>Faculty of Engineering and Technology                                         </a:t>
            </a:r>
          </a:p>
          <a:p>
            <a:endParaRPr lang="en-US" sz="2000" b="1" dirty="0">
              <a:solidFill>
                <a:srgbClr val="C00000"/>
              </a:solidFill>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126271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1974</TotalTime>
  <Words>1286</Words>
  <Application>Microsoft Office PowerPoint</Application>
  <PresentationFormat>Widescreen</PresentationFormat>
  <Paragraphs>221</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Aptos Display</vt:lpstr>
      <vt:lpstr>Arial</vt:lpstr>
      <vt:lpstr>Bodoni MT</vt:lpstr>
      <vt:lpstr>Calibri</vt:lpstr>
      <vt:lpstr>Cavolini</vt:lpstr>
      <vt:lpstr>Times New Roman</vt:lpstr>
      <vt:lpstr>Wingdings</vt:lpstr>
      <vt:lpstr>Office Theme</vt:lpstr>
      <vt:lpstr>TOPIC : AMQP</vt:lpstr>
      <vt:lpstr>CONTENTS</vt:lpstr>
      <vt:lpstr>INTRODUCTION</vt:lpstr>
      <vt:lpstr>                  PROBLEM STATEMENT</vt:lpstr>
      <vt:lpstr>PowerPoint Presentation</vt:lpstr>
      <vt:lpstr>PowerPoint Presentation</vt:lpstr>
      <vt:lpstr>                      IMPLEMENTATION</vt:lpstr>
      <vt:lpstr>PowerPoint Presentation</vt:lpstr>
      <vt:lpstr>PowerPoint Presentation</vt:lpstr>
      <vt:lpstr>WORKING OF AMQP IN IoT</vt:lpstr>
      <vt:lpstr>PowerPoint Presentation</vt:lpstr>
      <vt:lpstr>PowerPoint Presentation</vt:lpstr>
      <vt:lpstr>LITERATURE SURVEY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Nagaraja, Bharath Kurki</dc:creator>
  <cp:lastModifiedBy>Teertha Shree</cp:lastModifiedBy>
  <cp:revision>154</cp:revision>
  <dcterms:created xsi:type="dcterms:W3CDTF">2024-07-26T05:36:48Z</dcterms:created>
  <dcterms:modified xsi:type="dcterms:W3CDTF">2025-12-17T03:16:38Z</dcterms:modified>
</cp:coreProperties>
</file>